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g_sto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swoosh_g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640080"/>
            <a:ext cx="5669280" cy="215647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9601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 spc="300">
                <a:solidFill>
                  <a:srgbClr val="7FDFFF"/>
                </a:solidFill>
                <a:latin typeface="Futura"/>
                <a:ea typeface="Futura"/>
                <a:cs typeface="Futura"/>
              </a:rPr>
              <a:t>NIKE × KIOSK   ·   IN-STORE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240280"/>
            <a:ext cx="10058400" cy="173736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400" b="1" i="0">
                <a:solidFill>
                  <a:srgbClr val="F4F8FF"/>
                </a:solidFill>
                <a:latin typeface="Futura"/>
                <a:ea typeface="Futura"/>
                <a:cs typeface="Futura"/>
              </a:rPr>
              <a:t>ATLAS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114800"/>
            <a:ext cx="10515600" cy="5486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4F8FF"/>
                </a:solidFill>
                <a:latin typeface="Futura"/>
                <a:ea typeface="Futura"/>
                <a:cs typeface="Futura"/>
              </a:rPr>
              <a:t>Concierge AI di styling  +  </a:t>
            </a:r>
            <a:r>
              <a:rPr sz="2500" b="1" i="0">
                <a:solidFill>
                  <a:srgbClr val="D4FF37"/>
                </a:solidFill>
                <a:latin typeface="Futura"/>
                <a:ea typeface="Futura"/>
                <a:cs typeface="Futura"/>
              </a:rPr>
              <a:t>Olympic Arena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864608"/>
            <a:ext cx="10515600" cy="5486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0" i="1">
                <a:solidFill>
                  <a:srgbClr val="7FDFFF"/>
                </a:solidFill>
                <a:latin typeface="Futura"/>
                <a:ea typeface="Futura"/>
                <a:cs typeface="Futura"/>
              </a:rPr>
              <a:t>Trova il tuo fit. Gioca. Vinci. Vesti.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779008"/>
            <a:ext cx="10908792" cy="566928"/>
          </a:xfrm>
          <a:prstGeom prst="roundRect">
            <a:avLst>
              <a:gd name="adj" fmla="val 18000"/>
            </a:avLst>
          </a:prstGeom>
          <a:noFill/>
          <a:ln w="12700">
            <a:solidFill>
              <a:srgbClr val="253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779008"/>
            <a:ext cx="6400800" cy="56692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 spc="200">
                <a:solidFill>
                  <a:srgbClr val="7D93A8"/>
                </a:solidFill>
                <a:latin typeface="Futura"/>
                <a:ea typeface="Futura"/>
                <a:cs typeface="Futura"/>
              </a:rPr>
              <a:t>PROGETTO D'ESAME</a:t>
            </a:r>
            <a:r>
              <a:rPr sz="1100" b="1" i="0">
                <a:solidFill>
                  <a:srgbClr val="F4F8FF"/>
                </a:solidFill>
                <a:latin typeface="Futura"/>
                <a:ea typeface="Futura"/>
                <a:cs typeface="Futura"/>
              </a:rPr>
              <a:t>   ·   UI / UX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5779008"/>
            <a:ext cx="6793992" cy="56692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7D93A8"/>
                </a:solidFill>
                <a:latin typeface="Futura"/>
                <a:ea typeface="Futura"/>
                <a:cs typeface="Futura"/>
              </a:rPr>
              <a:t>Proposta 1 — Gioco interattivo in-store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g_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008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 spc="320">
                <a:solidFill>
                  <a:srgbClr val="7FDFFF"/>
                </a:solidFill>
                <a:latin typeface="Futura"/>
                <a:ea typeface="Futura"/>
                <a:cs typeface="Futura"/>
              </a:rPr>
              <a:t>01 · IL CONTESTO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05840"/>
            <a:ext cx="1078992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3500" b="1" i="0">
                <a:solidFill>
                  <a:srgbClr val="F4F8FF"/>
                </a:solidFill>
                <a:latin typeface="Futura"/>
                <a:ea typeface="Futura"/>
                <a:cs typeface="Futura"/>
              </a:rPr>
              <a:t>Il negozio fisico deve dare </a:t>
            </a:r>
            <a:r>
              <a:rPr sz="3500" b="1" i="0">
                <a:solidFill>
                  <a:srgbClr val="F4F8FF"/>
                </a:solidFill>
                <a:latin typeface="Futura"/>
                <a:ea typeface="Futura"/>
                <a:cs typeface="Futura"/>
              </a:rPr>
              <a:t>un motivo per
</a:t>
            </a:r>
            <a:r>
              <a:rPr sz="3500" b="1" i="0">
                <a:solidFill>
                  <a:srgbClr val="7FDFFF"/>
                </a:solidFill>
                <a:latin typeface="Futura"/>
                <a:ea typeface="Futura"/>
                <a:cs typeface="Futura"/>
              </a:rPr>
              <a:t>entrare, restare e tornare.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8892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7D93A8"/>
                </a:solidFill>
                <a:latin typeface="Futura"/>
                <a:ea typeface="Futura"/>
                <a:cs typeface="Futura"/>
              </a:rPr>
              <a:t>Lo showroom non basta più: il cliente confronta in-store e compra online. </a:t>
            </a:r>
            <a:r>
              <a:rPr sz="1500" b="0" i="0">
                <a:solidFill>
                  <a:srgbClr val="F4F8FF"/>
                </a:solidFill>
                <a:latin typeface="Futura"/>
                <a:ea typeface="Futura"/>
                <a:cs typeface="Futura"/>
              </a:rPr>
              <a:t>La sfida è trasformare la visita in un'esperienza memorabile e misurabile.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657600"/>
            <a:ext cx="3456432" cy="2331720"/>
          </a:xfrm>
          <a:prstGeom prst="roundRect">
            <a:avLst>
              <a:gd name="adj" fmla="val 6000"/>
            </a:avLst>
          </a:prstGeom>
          <a:solidFill>
            <a:srgbClr val="0E1620"/>
          </a:solidFill>
          <a:ln w="12700">
            <a:solidFill>
              <a:srgbClr val="253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2688" y="3968496"/>
            <a:ext cx="566928" cy="566928"/>
          </a:xfrm>
          <a:prstGeom prst="ellipse">
            <a:avLst/>
          </a:prstGeom>
          <a:noFill/>
          <a:ln w="27940">
            <a:solidFill>
              <a:srgbClr val="7FD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395020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7FDFFF"/>
                </a:solidFill>
                <a:latin typeface="Futura"/>
                <a:ea typeface="Futura"/>
                <a:cs typeface="Futur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4681728"/>
            <a:ext cx="2907791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1" i="0" spc="100">
                <a:solidFill>
                  <a:srgbClr val="7FDFFF"/>
                </a:solidFill>
                <a:latin typeface="Futura"/>
                <a:ea typeface="Futura"/>
                <a:cs typeface="Futura"/>
              </a:rPr>
              <a:t>ATTRARRE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5138928"/>
            <a:ext cx="2889503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7D93A8"/>
                </a:solidFill>
                <a:latin typeface="Futura"/>
                <a:ea typeface="Futura"/>
                <a:cs typeface="Futura"/>
              </a:rPr>
              <a:t>Catturare l'attenzione di chi passa: un kiosk che incuriosisce e invita al tocco.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3657600"/>
            <a:ext cx="3456432" cy="2331720"/>
          </a:xfrm>
          <a:prstGeom prst="roundRect">
            <a:avLst>
              <a:gd name="adj" fmla="val 6000"/>
            </a:avLst>
          </a:prstGeom>
          <a:solidFill>
            <a:srgbClr val="0E1620"/>
          </a:solidFill>
          <a:ln w="12700">
            <a:solidFill>
              <a:srgbClr val="253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700016" y="3968496"/>
            <a:ext cx="566928" cy="566928"/>
          </a:xfrm>
          <a:prstGeom prst="ellipse">
            <a:avLst/>
          </a:prstGeom>
          <a:noFill/>
          <a:ln w="27940">
            <a:solidFill>
              <a:srgbClr val="D4F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0016" y="395020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D4FF37"/>
                </a:solidFill>
                <a:latin typeface="Futura"/>
                <a:ea typeface="Futura"/>
                <a:cs typeface="Futur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18304" y="4681728"/>
            <a:ext cx="2907791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1" i="0" spc="100">
                <a:solidFill>
                  <a:srgbClr val="D4FF37"/>
                </a:solidFill>
                <a:latin typeface="Futura"/>
                <a:ea typeface="Futura"/>
                <a:cs typeface="Futura"/>
              </a:rPr>
              <a:t>TRATTENERE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18304" y="5138928"/>
            <a:ext cx="2889503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7D93A8"/>
                </a:solidFill>
                <a:latin typeface="Futura"/>
                <a:ea typeface="Futura"/>
                <a:cs typeface="Futura"/>
              </a:rPr>
              <a:t>Aumentare il tempo di permanenza con interazione, scan e gioco.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74736" y="3657600"/>
            <a:ext cx="3456432" cy="2331720"/>
          </a:xfrm>
          <a:prstGeom prst="roundRect">
            <a:avLst>
              <a:gd name="adj" fmla="val 6000"/>
            </a:avLst>
          </a:prstGeom>
          <a:solidFill>
            <a:srgbClr val="0E1620"/>
          </a:solidFill>
          <a:ln w="12700">
            <a:solidFill>
              <a:srgbClr val="253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467344" y="3968496"/>
            <a:ext cx="566928" cy="566928"/>
          </a:xfrm>
          <a:prstGeom prst="ellipse">
            <a:avLst/>
          </a:prstGeom>
          <a:noFill/>
          <a:ln w="27940">
            <a:solidFill>
              <a:srgbClr val="0085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67344" y="395020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0085C7"/>
                </a:solidFill>
                <a:latin typeface="Futura"/>
                <a:ea typeface="Futura"/>
                <a:cs typeface="Futur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85632" y="4681728"/>
            <a:ext cx="2907791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1" i="0" spc="100">
                <a:solidFill>
                  <a:srgbClr val="0085C7"/>
                </a:solidFill>
                <a:latin typeface="Futura"/>
                <a:ea typeface="Futura"/>
                <a:cs typeface="Futura"/>
              </a:rPr>
              <a:t>CONVERTIRE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85632" y="5138928"/>
            <a:ext cx="2889503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7D93A8"/>
                </a:solidFill>
                <a:latin typeface="Futura"/>
                <a:ea typeface="Futura"/>
                <a:cs typeface="Futura"/>
              </a:rPr>
              <a:t>Guidare alla taglia giusta, al prodotto e alla cassa con uno sconto sbloccato.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 spc="200">
                <a:solidFill>
                  <a:srgbClr val="7FDFFF"/>
                </a:solidFill>
                <a:latin typeface="Futura"/>
                <a:ea typeface="Futura"/>
                <a:cs typeface="Futura"/>
              </a:rPr>
              <a:t>ATLAS</a:t>
            </a:r>
            <a:r>
              <a:rPr sz="1000" b="0" i="0" spc="100">
                <a:solidFill>
                  <a:srgbClr val="7D93A8"/>
                </a:solidFill>
                <a:latin typeface="Futura"/>
                <a:ea typeface="Futura"/>
                <a:cs typeface="Futura"/>
              </a:rPr>
              <a:t>  ·  Il contesto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7D93A8"/>
                </a:solidFill>
                <a:latin typeface="Futura"/>
                <a:ea typeface="Futura"/>
                <a:cs typeface="Futura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g_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008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 spc="320">
                <a:solidFill>
                  <a:srgbClr val="7FDFFF"/>
                </a:solidFill>
                <a:latin typeface="Futura"/>
                <a:ea typeface="Futura"/>
                <a:cs typeface="Futura"/>
              </a:rPr>
              <a:t>02 · OBIETTIVI DEL PROGETTO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4F8FF"/>
                </a:solidFill>
                <a:latin typeface="Futura"/>
                <a:ea typeface="Futura"/>
                <a:cs typeface="Futura"/>
              </a:rPr>
              <a:t>Tre obiettivi, allineati al syllabus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7D93A8"/>
                </a:solidFill>
                <a:latin typeface="Futura"/>
                <a:ea typeface="Futura"/>
                <a:cs typeface="Futura"/>
              </a:rPr>
              <a:t>Pensiero organizzato · gestione della complessità · leve comunicative — applicati a un caso reale e spendibile.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697480"/>
            <a:ext cx="3456432" cy="3154680"/>
          </a:xfrm>
          <a:prstGeom prst="roundRect">
            <a:avLst>
              <a:gd name="adj" fmla="val 5000"/>
            </a:avLst>
          </a:prstGeom>
          <a:solidFill>
            <a:srgbClr val="0E1620"/>
          </a:solidFill>
          <a:ln w="12700">
            <a:solidFill>
              <a:srgbClr val="253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2907791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5200" b="1" i="0">
                <a:solidFill>
                  <a:srgbClr val="7FDFFF"/>
                </a:solidFill>
                <a:latin typeface="Futura"/>
                <a:ea typeface="Futura"/>
                <a:cs typeface="Futura"/>
              </a:rP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" y="3977639"/>
            <a:ext cx="1371600" cy="36576"/>
          </a:xfrm>
          <a:prstGeom prst="roundRect">
            <a:avLst>
              <a:gd name="adj" fmla="val 50000"/>
            </a:avLst>
          </a:prstGeom>
          <a:solidFill>
            <a:srgbClr val="7FD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4160520"/>
            <a:ext cx="2889503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F4F8FF"/>
                </a:solidFill>
                <a:latin typeface="Futura"/>
                <a:ea typeface="Futura"/>
                <a:cs typeface="Futura"/>
              </a:rPr>
              <a:t>Dwell time &amp; conversione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4937760"/>
            <a:ext cx="2871215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7D93A8"/>
                </a:solidFill>
                <a:latin typeface="Futura"/>
                <a:ea typeface="Futura"/>
                <a:cs typeface="Futura"/>
              </a:rPr>
              <a:t>Aumentare il tempo in negozio e accompagnare il cliente fino all'acquisto.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2697480"/>
            <a:ext cx="3456432" cy="3154680"/>
          </a:xfrm>
          <a:prstGeom prst="roundRect">
            <a:avLst>
              <a:gd name="adj" fmla="val 5000"/>
            </a:avLst>
          </a:prstGeom>
          <a:solidFill>
            <a:srgbClr val="0E1620"/>
          </a:solidFill>
          <a:ln w="12700">
            <a:solidFill>
              <a:srgbClr val="253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81728" y="2926080"/>
            <a:ext cx="2907791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5200" b="1" i="0">
                <a:solidFill>
                  <a:srgbClr val="D4FF37"/>
                </a:solidFill>
                <a:latin typeface="Futura"/>
                <a:ea typeface="Futura"/>
                <a:cs typeface="Futura"/>
              </a:rP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18304" y="3977639"/>
            <a:ext cx="1371600" cy="36576"/>
          </a:xfrm>
          <a:prstGeom prst="roundRect">
            <a:avLst>
              <a:gd name="adj" fmla="val 50000"/>
            </a:avLst>
          </a:prstGeom>
          <a:solidFill>
            <a:srgbClr val="D4F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18304" y="4160520"/>
            <a:ext cx="2889503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F4F8FF"/>
                </a:solidFill>
                <a:latin typeface="Futura"/>
                <a:ea typeface="Futura"/>
                <a:cs typeface="Futura"/>
              </a:rPr>
              <a:t>Branding esperienziale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18304" y="4937760"/>
            <a:ext cx="2871215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7D93A8"/>
                </a:solidFill>
                <a:latin typeface="Futura"/>
                <a:ea typeface="Futura"/>
                <a:cs typeface="Futura"/>
              </a:rPr>
              <a:t>Un ricordo positivo e condivisibile: Nike come spazio da vivere, non solo da comprare.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74736" y="2697480"/>
            <a:ext cx="3456432" cy="3154680"/>
          </a:xfrm>
          <a:prstGeom prst="roundRect">
            <a:avLst>
              <a:gd name="adj" fmla="val 5000"/>
            </a:avLst>
          </a:prstGeom>
          <a:solidFill>
            <a:srgbClr val="0E1620"/>
          </a:solidFill>
          <a:ln w="12700">
            <a:solidFill>
              <a:srgbClr val="253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49056" y="2926080"/>
            <a:ext cx="2907791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5200" b="1" i="0">
                <a:solidFill>
                  <a:srgbClr val="0085C7"/>
                </a:solidFill>
                <a:latin typeface="Futura"/>
                <a:ea typeface="Futura"/>
                <a:cs typeface="Futura"/>
              </a:rP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85632" y="3977639"/>
            <a:ext cx="1371600" cy="36576"/>
          </a:xfrm>
          <a:prstGeom prst="roundRect">
            <a:avLst>
              <a:gd name="adj" fmla="val 50000"/>
            </a:avLst>
          </a:prstGeom>
          <a:solidFill>
            <a:srgbClr val="0085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85632" y="4160520"/>
            <a:ext cx="2889503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F4F8FF"/>
                </a:solidFill>
                <a:latin typeface="Futura"/>
                <a:ea typeface="Futura"/>
                <a:cs typeface="Futura"/>
              </a:rPr>
              <a:t>Dati &amp; personalizzazione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85632" y="4937760"/>
            <a:ext cx="2871215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7D93A8"/>
                </a:solidFill>
                <a:latin typeface="Futura"/>
                <a:ea typeface="Futura"/>
                <a:cs typeface="Futura"/>
              </a:rPr>
              <a:t>Scan e preferenze generano una direzione di stile su misura e insight utili al retail.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 spc="200">
                <a:solidFill>
                  <a:srgbClr val="7FDFFF"/>
                </a:solidFill>
                <a:latin typeface="Futura"/>
                <a:ea typeface="Futura"/>
                <a:cs typeface="Futura"/>
              </a:rPr>
              <a:t>ATLAS</a:t>
            </a:r>
            <a:r>
              <a:rPr sz="1000" b="0" i="0" spc="100">
                <a:solidFill>
                  <a:srgbClr val="7D93A8"/>
                </a:solidFill>
                <a:latin typeface="Futura"/>
                <a:ea typeface="Futura"/>
                <a:cs typeface="Futura"/>
              </a:rPr>
              <a:t>  ·  Obiettivi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7D93A8"/>
                </a:solidFill>
                <a:latin typeface="Futura"/>
                <a:ea typeface="Futura"/>
                <a:cs typeface="Futura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g_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008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 spc="320">
                <a:solidFill>
                  <a:srgbClr val="7FDFFF"/>
                </a:solidFill>
                <a:latin typeface="Futura"/>
                <a:ea typeface="Futura"/>
                <a:cs typeface="Futura"/>
              </a:rPr>
              <a:t>03 · TARGET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4F8FF"/>
                </a:solidFill>
                <a:latin typeface="Futura"/>
                <a:ea typeface="Futura"/>
                <a:cs typeface="Futura"/>
              </a:rPr>
              <a:t>Per chi progettiamo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D93A8"/>
                </a:solidFill>
                <a:latin typeface="Futura"/>
                <a:ea typeface="Futura"/>
                <a:cs typeface="Futura"/>
              </a:rPr>
              <a:t>Core target: </a:t>
            </a:r>
            <a:r>
              <a:rPr sz="1500" b="1" i="0">
                <a:solidFill>
                  <a:srgbClr val="7FDFFF"/>
                </a:solidFill>
                <a:latin typeface="Futura"/>
                <a:ea typeface="Futura"/>
                <a:cs typeface="Futura"/>
              </a:rPr>
              <a:t>Gen Z &amp; Young Millennials, 18–30 anni</a:t>
            </a:r>
            <a:r>
              <a:rPr sz="1500" b="0" i="0">
                <a:solidFill>
                  <a:srgbClr val="7D93A8"/>
                </a:solidFill>
                <a:latin typeface="Futura"/>
                <a:ea typeface="Futura"/>
                <a:cs typeface="Futura"/>
              </a:rPr>
              <a:t> — digitali, esigenti, in cerca di esperienze.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86000"/>
            <a:ext cx="4572000" cy="2468880"/>
          </a:xfrm>
          <a:prstGeom prst="roundRect">
            <a:avLst>
              <a:gd name="adj" fmla="val 5000"/>
            </a:avLst>
          </a:prstGeom>
          <a:solidFill>
            <a:srgbClr val="0E1620"/>
          </a:solidFill>
          <a:ln w="12700">
            <a:solidFill>
              <a:srgbClr val="253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2688" y="2560320"/>
            <a:ext cx="731520" cy="731520"/>
          </a:xfrm>
          <a:prstGeom prst="ellipse">
            <a:avLst/>
          </a:prstGeom>
          <a:noFill/>
          <a:ln w="30480">
            <a:solidFill>
              <a:srgbClr val="7FD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56032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7FDFFF"/>
                </a:solidFill>
                <a:latin typeface="Futura"/>
                <a:ea typeface="Futura"/>
                <a:cs typeface="Futura"/>
              </a:rPr>
              <a:t>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596896"/>
            <a:ext cx="32004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F4F8FF"/>
                </a:solidFill>
                <a:latin typeface="Futura"/>
                <a:ea typeface="Futura"/>
                <a:cs typeface="Futura"/>
              </a:rPr>
              <a:t>LEO · 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035808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FDFFF"/>
                </a:solidFill>
                <a:latin typeface="Futura"/>
                <a:ea typeface="Futura"/>
                <a:cs typeface="Futura"/>
              </a:rPr>
              <a:t>Studente · Sneakerhead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3566160"/>
            <a:ext cx="4041648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1" i="0">
                <a:solidFill>
                  <a:srgbClr val="7FDFFF"/>
                </a:solidFill>
                <a:latin typeface="Futura"/>
                <a:ea typeface="Futura"/>
                <a:cs typeface="Futura"/>
              </a:rPr>
              <a:t>›  </a:t>
            </a:r>
            <a:r>
              <a:rPr sz="1150" b="0" i="0">
                <a:solidFill>
                  <a:srgbClr val="7D93A8"/>
                </a:solidFill>
                <a:latin typeface="Futura"/>
                <a:ea typeface="Futura"/>
                <a:cs typeface="Futura"/>
              </a:rPr>
              <a:t>Cerca lo statement piece e le limited edition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1" i="0">
                <a:solidFill>
                  <a:srgbClr val="7FDFFF"/>
                </a:solidFill>
                <a:latin typeface="Futura"/>
                <a:ea typeface="Futura"/>
                <a:cs typeface="Futura"/>
              </a:rPr>
              <a:t>›  </a:t>
            </a:r>
            <a:r>
              <a:rPr sz="1150" b="0" i="0">
                <a:solidFill>
                  <a:srgbClr val="7D93A8"/>
                </a:solidFill>
                <a:latin typeface="Futura"/>
                <a:ea typeface="Futura"/>
                <a:cs typeface="Futura"/>
              </a:rPr>
              <a:t>Condivide sui social ciò che lo fa sentire unico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1" i="0">
                <a:solidFill>
                  <a:srgbClr val="7FDFFF"/>
                </a:solidFill>
                <a:latin typeface="Futura"/>
                <a:ea typeface="Futura"/>
                <a:cs typeface="Futura"/>
              </a:rPr>
              <a:t>›  </a:t>
            </a:r>
            <a:r>
              <a:rPr sz="1150" b="0" i="0">
                <a:solidFill>
                  <a:srgbClr val="7D93A8"/>
                </a:solidFill>
                <a:latin typeface="Futura"/>
                <a:ea typeface="Futura"/>
                <a:cs typeface="Futura"/>
              </a:rPr>
              <a:t>Impaziente con code e commessi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0" y="2286000"/>
            <a:ext cx="4572000" cy="2468880"/>
          </a:xfrm>
          <a:prstGeom prst="roundRect">
            <a:avLst>
              <a:gd name="adj" fmla="val 5000"/>
            </a:avLst>
          </a:prstGeom>
          <a:solidFill>
            <a:srgbClr val="0E1620"/>
          </a:solidFill>
          <a:ln w="12700">
            <a:solidFill>
              <a:srgbClr val="253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961888" y="2560320"/>
            <a:ext cx="731520" cy="731520"/>
          </a:xfrm>
          <a:prstGeom prst="ellipse">
            <a:avLst/>
          </a:prstGeom>
          <a:noFill/>
          <a:ln w="30480">
            <a:solidFill>
              <a:srgbClr val="D4F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61888" y="256032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D4FF37"/>
                </a:solidFill>
                <a:latin typeface="Futura"/>
                <a:ea typeface="Futura"/>
                <a:cs typeface="Futura"/>
              </a:rPr>
              <a:t>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596896"/>
            <a:ext cx="32004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F4F8FF"/>
                </a:solidFill>
                <a:latin typeface="Futura"/>
                <a:ea typeface="Futura"/>
                <a:cs typeface="Futura"/>
              </a:rPr>
              <a:t>SARA · 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3035808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4FF37"/>
                </a:solidFill>
                <a:latin typeface="Futura"/>
                <a:ea typeface="Futura"/>
                <a:cs typeface="Futura"/>
              </a:rPr>
              <a:t>Professionista · Runner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0176" y="3566160"/>
            <a:ext cx="4041648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1" i="0">
                <a:solidFill>
                  <a:srgbClr val="D4FF37"/>
                </a:solidFill>
                <a:latin typeface="Futura"/>
                <a:ea typeface="Futura"/>
                <a:cs typeface="Futura"/>
              </a:rPr>
              <a:t>›  </a:t>
            </a:r>
            <a:r>
              <a:rPr sz="1150" b="0" i="0">
                <a:solidFill>
                  <a:srgbClr val="7D93A8"/>
                </a:solidFill>
                <a:latin typeface="Futura"/>
                <a:ea typeface="Futura"/>
                <a:cs typeface="Futura"/>
              </a:rPr>
              <a:t>Vuole performance e taglia perfetta, zero resi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1" i="0">
                <a:solidFill>
                  <a:srgbClr val="D4FF37"/>
                </a:solidFill>
                <a:latin typeface="Futura"/>
                <a:ea typeface="Futura"/>
                <a:cs typeface="Futura"/>
              </a:rPr>
              <a:t>›  </a:t>
            </a:r>
            <a:r>
              <a:rPr sz="1150" b="0" i="0">
                <a:solidFill>
                  <a:srgbClr val="7D93A8"/>
                </a:solidFill>
                <a:latin typeface="Futura"/>
                <a:ea typeface="Futura"/>
                <a:cs typeface="Futura"/>
              </a:rPr>
              <a:t>Poco tempo: cerca consigli rapidi e affidabili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1" i="0">
                <a:solidFill>
                  <a:srgbClr val="D4FF37"/>
                </a:solidFill>
                <a:latin typeface="Futura"/>
                <a:ea typeface="Futura"/>
                <a:cs typeface="Futura"/>
              </a:rPr>
              <a:t>›  </a:t>
            </a:r>
            <a:r>
              <a:rPr sz="1150" b="0" i="0">
                <a:solidFill>
                  <a:srgbClr val="7D93A8"/>
                </a:solidFill>
                <a:latin typeface="Futura"/>
                <a:ea typeface="Futura"/>
                <a:cs typeface="Futura"/>
              </a:rPr>
              <a:t>Premia i brand che la fanno sentire seguita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983480"/>
            <a:ext cx="2679192" cy="1234440"/>
          </a:xfrm>
          <a:prstGeom prst="roundRect">
            <a:avLst>
              <a:gd name="adj" fmla="val 7000"/>
            </a:avLst>
          </a:prstGeom>
          <a:solidFill>
            <a:srgbClr val="121C28"/>
          </a:solidFill>
          <a:ln w="12700">
            <a:solidFill>
              <a:srgbClr val="253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7" y="5166360"/>
            <a:ext cx="231343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 spc="150">
                <a:solidFill>
                  <a:srgbClr val="7FDFFF"/>
                </a:solidFill>
                <a:latin typeface="Futura"/>
                <a:ea typeface="Futura"/>
                <a:cs typeface="Futura"/>
              </a:rPr>
              <a:t>CONTESTO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" y="5486400"/>
            <a:ext cx="2295144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F4F8FF"/>
                </a:solidFill>
                <a:latin typeface="Futura"/>
                <a:ea typeface="Futura"/>
                <a:cs typeface="Futura"/>
              </a:rPr>
              <a:t>Flagship / concept store ad alto traffico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83864" y="4983480"/>
            <a:ext cx="2679192" cy="1234440"/>
          </a:xfrm>
          <a:prstGeom prst="roundRect">
            <a:avLst>
              <a:gd name="adj" fmla="val 7000"/>
            </a:avLst>
          </a:prstGeom>
          <a:solidFill>
            <a:srgbClr val="121C28"/>
          </a:solidFill>
          <a:ln w="12700">
            <a:solidFill>
              <a:srgbClr val="253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85032" y="5166360"/>
            <a:ext cx="231343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 spc="150">
                <a:solidFill>
                  <a:srgbClr val="7FDFFF"/>
                </a:solidFill>
                <a:latin typeface="Futura"/>
                <a:ea typeface="Futura"/>
                <a:cs typeface="Futura"/>
              </a:rPr>
              <a:t>MOMENTO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85032" y="5486400"/>
            <a:ext cx="2295144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F4F8FF"/>
                </a:solidFill>
                <a:latin typeface="Futura"/>
                <a:ea typeface="Futura"/>
                <a:cs typeface="Futura"/>
              </a:rPr>
              <a:t>Mentre prova, sceglie o aspetta in negozio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27648" y="4983480"/>
            <a:ext cx="2679192" cy="1234440"/>
          </a:xfrm>
          <a:prstGeom prst="roundRect">
            <a:avLst>
              <a:gd name="adj" fmla="val 7000"/>
            </a:avLst>
          </a:prstGeom>
          <a:solidFill>
            <a:srgbClr val="121C28"/>
          </a:solidFill>
          <a:ln w="12700">
            <a:solidFill>
              <a:srgbClr val="253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28816" y="5166360"/>
            <a:ext cx="231343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 spc="150">
                <a:solidFill>
                  <a:srgbClr val="7FDFFF"/>
                </a:solidFill>
                <a:latin typeface="Futura"/>
                <a:ea typeface="Futura"/>
                <a:cs typeface="Futura"/>
              </a:rPr>
              <a:t>BISOGNO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8816" y="5486400"/>
            <a:ext cx="2295144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F4F8FF"/>
                </a:solidFill>
                <a:latin typeface="Futura"/>
                <a:ea typeface="Futura"/>
                <a:cs typeface="Futura"/>
              </a:rPr>
              <a:t>Velocità, personalizzazione, divertimento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71432" y="4983480"/>
            <a:ext cx="2679192" cy="1234440"/>
          </a:xfrm>
          <a:prstGeom prst="roundRect">
            <a:avLst>
              <a:gd name="adj" fmla="val 7000"/>
            </a:avLst>
          </a:prstGeom>
          <a:solidFill>
            <a:srgbClr val="121C28"/>
          </a:solidFill>
          <a:ln w="12700">
            <a:solidFill>
              <a:srgbClr val="253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72600" y="5166360"/>
            <a:ext cx="231343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 spc="150">
                <a:solidFill>
                  <a:srgbClr val="7FDFFF"/>
                </a:solidFill>
                <a:latin typeface="Futura"/>
                <a:ea typeface="Futura"/>
                <a:cs typeface="Futura"/>
              </a:rPr>
              <a:t>LEVA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72600" y="5486400"/>
            <a:ext cx="2295144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F4F8FF"/>
                </a:solidFill>
                <a:latin typeface="Futura"/>
                <a:ea typeface="Futura"/>
                <a:cs typeface="Futura"/>
              </a:rPr>
              <a:t>Gamification + reward immediato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 spc="200">
                <a:solidFill>
                  <a:srgbClr val="7FDFFF"/>
                </a:solidFill>
                <a:latin typeface="Futura"/>
                <a:ea typeface="Futura"/>
                <a:cs typeface="Futura"/>
              </a:rPr>
              <a:t>ATLAS</a:t>
            </a:r>
            <a:r>
              <a:rPr sz="1000" b="0" i="0" spc="100">
                <a:solidFill>
                  <a:srgbClr val="7D93A8"/>
                </a:solidFill>
                <a:latin typeface="Futura"/>
                <a:ea typeface="Futura"/>
                <a:cs typeface="Futura"/>
              </a:rPr>
              <a:t>  ·  Target analysis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0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7D93A8"/>
                </a:solidFill>
                <a:latin typeface="Futura"/>
                <a:ea typeface="Futura"/>
                <a:cs typeface="Futura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g_sto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008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 spc="320">
                <a:solidFill>
                  <a:srgbClr val="7FDFFF"/>
                </a:solidFill>
                <a:latin typeface="Futura"/>
                <a:ea typeface="Futura"/>
                <a:cs typeface="Futura"/>
              </a:rPr>
              <a:t>04 · 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11155680" cy="2011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4000" b="1" i="0">
                <a:solidFill>
                  <a:srgbClr val="F4F8FF"/>
                </a:solidFill>
                <a:latin typeface="Futura"/>
                <a:ea typeface="Futura"/>
                <a:cs typeface="Futura"/>
              </a:rPr>
              <a:t>Un </a:t>
            </a:r>
            <a:r>
              <a:rPr sz="4000" b="1" i="0">
                <a:solidFill>
                  <a:srgbClr val="7FDFFF"/>
                </a:solidFill>
                <a:latin typeface="Futura"/>
                <a:ea typeface="Futura"/>
                <a:cs typeface="Futura"/>
              </a:rPr>
              <a:t>concierge AI</a:t>
            </a:r>
            <a:r>
              <a:rPr sz="4000" b="1" i="0">
                <a:solidFill>
                  <a:srgbClr val="F4F8FF"/>
                </a:solidFill>
                <a:latin typeface="Futura"/>
                <a:ea typeface="Futura"/>
                <a:cs typeface="Futura"/>
              </a:rPr>
              <a:t> che ti capisce,
ti misura e ti veste — e trasforma
l'attesa in </a:t>
            </a:r>
            <a:r>
              <a:rPr sz="4000" b="1" i="0">
                <a:solidFill>
                  <a:srgbClr val="D4FF37"/>
                </a:solidFill>
                <a:latin typeface="Futura"/>
                <a:ea typeface="Futura"/>
                <a:cs typeface="Futura"/>
              </a:rPr>
              <a:t>gioco.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977639"/>
            <a:ext cx="3456432" cy="2194560"/>
          </a:xfrm>
          <a:prstGeom prst="roundRect">
            <a:avLst>
              <a:gd name="adj" fmla="val 6000"/>
            </a:avLst>
          </a:prstGeom>
          <a:solidFill>
            <a:srgbClr val="0A1018"/>
          </a:solidFill>
          <a:ln w="12700">
            <a:solidFill>
              <a:srgbClr val="253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4233672"/>
            <a:ext cx="2907791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 i="0" spc="100">
                <a:solidFill>
                  <a:srgbClr val="7FDFFF"/>
                </a:solidFill>
                <a:latin typeface="Futura"/>
                <a:ea typeface="Futura"/>
                <a:cs typeface="Futura"/>
              </a:rPr>
              <a:t>CONVERSAZIONALE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0976" y="4654296"/>
            <a:ext cx="1097280" cy="32004"/>
          </a:xfrm>
          <a:prstGeom prst="roundRect">
            <a:avLst>
              <a:gd name="adj" fmla="val 50000"/>
            </a:avLst>
          </a:prstGeom>
          <a:solidFill>
            <a:srgbClr val="7FD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4846320"/>
            <a:ext cx="2889503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7D93A8"/>
                </a:solidFill>
                <a:latin typeface="Futura"/>
                <a:ea typeface="Futura"/>
                <a:cs typeface="Futura"/>
              </a:rPr>
              <a:t>Parli con Atlas (voce o touch). Niente menu freddi: un dialogo che porta al prodotto giusto.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3977639"/>
            <a:ext cx="3456432" cy="2194560"/>
          </a:xfrm>
          <a:prstGeom prst="roundRect">
            <a:avLst>
              <a:gd name="adj" fmla="val 6000"/>
            </a:avLst>
          </a:prstGeom>
          <a:solidFill>
            <a:srgbClr val="0A1018"/>
          </a:solidFill>
          <a:ln w="12700">
            <a:solidFill>
              <a:srgbClr val="253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0016" y="4233672"/>
            <a:ext cx="2907791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 i="0" spc="100">
                <a:solidFill>
                  <a:srgbClr val="D4FF37"/>
                </a:solidFill>
                <a:latin typeface="Futura"/>
                <a:ea typeface="Futura"/>
                <a:cs typeface="Futura"/>
              </a:rPr>
              <a:t>SU MISURA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18304" y="4654296"/>
            <a:ext cx="1097280" cy="32004"/>
          </a:xfrm>
          <a:prstGeom prst="roundRect">
            <a:avLst>
              <a:gd name="adj" fmla="val 50000"/>
            </a:avLst>
          </a:prstGeom>
          <a:solidFill>
            <a:srgbClr val="D4F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8304" y="4846320"/>
            <a:ext cx="2889503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7D93A8"/>
                </a:solidFill>
                <a:latin typeface="Futura"/>
                <a:ea typeface="Futura"/>
                <a:cs typeface="Futura"/>
              </a:rPr>
              <a:t>Lo scan LIDAR rileva la taglia esatta. Zero incertezza, zero resi.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74736" y="3977639"/>
            <a:ext cx="3456432" cy="2194560"/>
          </a:xfrm>
          <a:prstGeom prst="roundRect">
            <a:avLst>
              <a:gd name="adj" fmla="val 6000"/>
            </a:avLst>
          </a:prstGeom>
          <a:solidFill>
            <a:srgbClr val="0A1018"/>
          </a:solidFill>
          <a:ln w="12700">
            <a:solidFill>
              <a:srgbClr val="253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67344" y="4233672"/>
            <a:ext cx="2907791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 i="0" spc="100">
                <a:solidFill>
                  <a:srgbClr val="0085C7"/>
                </a:solidFill>
                <a:latin typeface="Futura"/>
                <a:ea typeface="Futura"/>
                <a:cs typeface="Futura"/>
              </a:rPr>
              <a:t>GAMIFICATO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85632" y="4654296"/>
            <a:ext cx="1097280" cy="32004"/>
          </a:xfrm>
          <a:prstGeom prst="roundRect">
            <a:avLst>
              <a:gd name="adj" fmla="val 50000"/>
            </a:avLst>
          </a:prstGeom>
          <a:solidFill>
            <a:srgbClr val="0085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85632" y="4846320"/>
            <a:ext cx="2889503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7D93A8"/>
                </a:solidFill>
                <a:latin typeface="Futura"/>
                <a:ea typeface="Futura"/>
                <a:cs typeface="Futura"/>
              </a:rPr>
              <a:t>L'Olympic Arena trasforma l'attesa in punti, sconti e premi esclusivi.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 spc="200">
                <a:solidFill>
                  <a:srgbClr val="7FDFFF"/>
                </a:solidFill>
                <a:latin typeface="Futura"/>
                <a:ea typeface="Futura"/>
                <a:cs typeface="Futura"/>
              </a:rPr>
              <a:t>ATLAS</a:t>
            </a:r>
            <a:r>
              <a:rPr sz="1000" b="0" i="0" spc="100">
                <a:solidFill>
                  <a:srgbClr val="7D93A8"/>
                </a:solidFill>
                <a:latin typeface="Futura"/>
                <a:ea typeface="Futura"/>
                <a:cs typeface="Futura"/>
              </a:rPr>
              <a:t>  ·  Concept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7D93A8"/>
                </a:solidFill>
                <a:latin typeface="Futura"/>
                <a:ea typeface="Futura"/>
                <a:cs typeface="Futura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g_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008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 spc="320">
                <a:solidFill>
                  <a:srgbClr val="7FDFFF"/>
                </a:solidFill>
                <a:latin typeface="Futura"/>
                <a:ea typeface="Futura"/>
                <a:cs typeface="Futura"/>
              </a:rPr>
              <a:t>05 · CONCEPT BOARD &amp; DESIGN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F4F8FF"/>
                </a:solidFill>
                <a:latin typeface="Futura"/>
                <a:ea typeface="Futura"/>
                <a:cs typeface="Futura"/>
              </a:rPr>
              <a:t>Moodboard &amp; identità visiva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5394960" cy="4069080"/>
          </a:xfrm>
          <a:prstGeom prst="roundRect">
            <a:avLst>
              <a:gd name="adj" fmla="val 4000"/>
            </a:avLst>
          </a:prstGeom>
          <a:solidFill>
            <a:srgbClr val="0E1620"/>
          </a:solidFill>
          <a:ln w="12700">
            <a:solidFill>
              <a:srgbClr val="253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 spc="200">
                <a:solidFill>
                  <a:srgbClr val="7FDFFF"/>
                </a:solidFill>
                <a:latin typeface="Futura"/>
                <a:ea typeface="Futura"/>
                <a:cs typeface="Futura"/>
              </a:rPr>
              <a:t>DIREZIONE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697480"/>
            <a:ext cx="1397203" cy="329184"/>
          </a:xfrm>
          <a:prstGeom prst="roundRect">
            <a:avLst>
              <a:gd name="adj" fmla="val 50000"/>
            </a:avLst>
          </a:prstGeom>
          <a:noFill/>
          <a:ln w="15240">
            <a:solidFill>
              <a:srgbClr val="7FD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79192"/>
            <a:ext cx="1397203" cy="3291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 i="0" spc="100">
                <a:solidFill>
                  <a:srgbClr val="7FDFFF"/>
                </a:solidFill>
                <a:latin typeface="Futura"/>
                <a:ea typeface="Futura"/>
                <a:cs typeface="Futura"/>
              </a:rPr>
              <a:t>HOLOGRAPHIC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57907" y="2697480"/>
            <a:ext cx="1199692" cy="329184"/>
          </a:xfrm>
          <a:prstGeom prst="roundRect">
            <a:avLst>
              <a:gd name="adj" fmla="val 50000"/>
            </a:avLst>
          </a:prstGeom>
          <a:noFill/>
          <a:ln w="15240">
            <a:solidFill>
              <a:srgbClr val="D4F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57907" y="2679192"/>
            <a:ext cx="1199692" cy="3291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 i="0" spc="100">
                <a:solidFill>
                  <a:srgbClr val="D4FF37"/>
                </a:solidFill>
                <a:latin typeface="Futura"/>
                <a:ea typeface="Futura"/>
                <a:cs typeface="Futura"/>
              </a:rPr>
              <a:t>FUTURISTA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03904" y="2697480"/>
            <a:ext cx="705916" cy="329184"/>
          </a:xfrm>
          <a:prstGeom prst="roundRect">
            <a:avLst>
              <a:gd name="adj" fmla="val 50000"/>
            </a:avLst>
          </a:prstGeom>
          <a:noFill/>
          <a:ln w="15240">
            <a:solidFill>
              <a:srgbClr val="0085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03904" y="2679192"/>
            <a:ext cx="705916" cy="3291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 i="0" spc="100">
                <a:solidFill>
                  <a:srgbClr val="0085C7"/>
                </a:solidFill>
                <a:latin typeface="Futura"/>
                <a:ea typeface="Futura"/>
                <a:cs typeface="Futura"/>
              </a:rPr>
              <a:t>VOLT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56124" y="2697480"/>
            <a:ext cx="1002182" cy="329184"/>
          </a:xfrm>
          <a:prstGeom prst="roundRect">
            <a:avLst>
              <a:gd name="adj" fmla="val 50000"/>
            </a:avLst>
          </a:prstGeom>
          <a:noFill/>
          <a:ln w="15240">
            <a:solidFill>
              <a:srgbClr val="7FD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56124" y="2679192"/>
            <a:ext cx="1002182" cy="3291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 i="0" spc="100">
                <a:solidFill>
                  <a:srgbClr val="7FDFFF"/>
                </a:solidFill>
                <a:latin typeface="Futura"/>
                <a:ea typeface="Futura"/>
                <a:cs typeface="Futura"/>
              </a:rPr>
              <a:t>OLYMPIC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172968"/>
            <a:ext cx="1002182" cy="329184"/>
          </a:xfrm>
          <a:prstGeom prst="roundRect">
            <a:avLst>
              <a:gd name="adj" fmla="val 50000"/>
            </a:avLst>
          </a:prstGeom>
          <a:noFill/>
          <a:ln w="15240">
            <a:solidFill>
              <a:srgbClr val="D4F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154680"/>
            <a:ext cx="1002182" cy="3291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 i="0" spc="100">
                <a:solidFill>
                  <a:srgbClr val="D4FF37"/>
                </a:solidFill>
                <a:latin typeface="Futura"/>
                <a:ea typeface="Futura"/>
                <a:cs typeface="Futura"/>
              </a:rPr>
              <a:t>PREMIUM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062886" y="3172968"/>
            <a:ext cx="1495958" cy="329184"/>
          </a:xfrm>
          <a:prstGeom prst="roundRect">
            <a:avLst>
              <a:gd name="adj" fmla="val 50000"/>
            </a:avLst>
          </a:prstGeom>
          <a:noFill/>
          <a:ln w="15240">
            <a:solidFill>
              <a:srgbClr val="0085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62886" y="3154680"/>
            <a:ext cx="1495958" cy="3291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 i="0" spc="100">
                <a:solidFill>
                  <a:srgbClr val="0085C7"/>
                </a:solidFill>
                <a:latin typeface="Futura"/>
                <a:ea typeface="Futura"/>
                <a:cs typeface="Futura"/>
              </a:rPr>
              <a:t>TECH-UTILITY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79476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 spc="200">
                <a:solidFill>
                  <a:srgbClr val="7FDFFF"/>
                </a:solidFill>
                <a:latin typeface="Futura"/>
                <a:ea typeface="Futura"/>
                <a:cs typeface="Futura"/>
              </a:rPr>
              <a:t>TYPOGRAFIA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069080"/>
            <a:ext cx="512064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F4F8FF"/>
                </a:solidFill>
                <a:latin typeface="Futura"/>
                <a:ea typeface="Futura"/>
                <a:cs typeface="Futura"/>
              </a:rPr>
              <a:t>Futura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07492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D93A8"/>
                </a:solidFill>
                <a:latin typeface="Futura"/>
                <a:ea typeface="Futura"/>
                <a:cs typeface="Futura"/>
              </a:rPr>
              <a:t>ABCDEFG · abcdefg · 0123456789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44068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D93A8"/>
                </a:solidFill>
                <a:latin typeface="Futura"/>
                <a:ea typeface="Futura"/>
                <a:cs typeface="Futura"/>
              </a:rPr>
              <a:t>Geometrico, iconico, eterno — il carattere storico di Nike.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2011680"/>
            <a:ext cx="5285232" cy="4069080"/>
          </a:xfrm>
          <a:prstGeom prst="roundRect">
            <a:avLst>
              <a:gd name="adj" fmla="val 4000"/>
            </a:avLst>
          </a:prstGeom>
          <a:solidFill>
            <a:srgbClr val="0E1620"/>
          </a:solidFill>
          <a:ln w="12700">
            <a:solidFill>
              <a:srgbClr val="253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228600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 spc="200">
                <a:solidFill>
                  <a:srgbClr val="7FDFFF"/>
                </a:solidFill>
                <a:latin typeface="Futura"/>
                <a:ea typeface="Futura"/>
                <a:cs typeface="Futura"/>
              </a:rPr>
              <a:t>COLOR PALETTE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37960" y="2743200"/>
            <a:ext cx="1481328" cy="1371600"/>
          </a:xfrm>
          <a:prstGeom prst="roundRect">
            <a:avLst>
              <a:gd name="adj" fmla="val 8000"/>
            </a:avLst>
          </a:prstGeom>
          <a:solidFill>
            <a:srgbClr val="7FDFFF"/>
          </a:solidFill>
          <a:ln w="12700">
            <a:solidFill>
              <a:srgbClr val="253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65976" y="3547872"/>
            <a:ext cx="12984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4F8FF"/>
                </a:solidFill>
                <a:latin typeface="Futura"/>
                <a:ea typeface="Futura"/>
                <a:cs typeface="Futura"/>
              </a:rPr>
              <a:t>Holo Cyan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65976" y="3803904"/>
            <a:ext cx="12984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F4F8FF"/>
                </a:solidFill>
                <a:latin typeface="Futura"/>
                <a:ea typeface="Futura"/>
                <a:cs typeface="Futura"/>
              </a:rPr>
              <a:t>#7FDFFF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38160" y="2743200"/>
            <a:ext cx="1481328" cy="1371600"/>
          </a:xfrm>
          <a:prstGeom prst="roundRect">
            <a:avLst>
              <a:gd name="adj" fmla="val 8000"/>
            </a:avLst>
          </a:prstGeom>
          <a:solidFill>
            <a:srgbClr val="D4FF37"/>
          </a:solidFill>
          <a:ln w="12700">
            <a:solidFill>
              <a:srgbClr val="253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66176" y="3547872"/>
            <a:ext cx="12984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00000"/>
                </a:solidFill>
                <a:latin typeface="Futura"/>
                <a:ea typeface="Futura"/>
                <a:cs typeface="Futura"/>
              </a:rPr>
              <a:t>Volt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66176" y="3803904"/>
            <a:ext cx="12984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000000"/>
                </a:solidFill>
                <a:latin typeface="Futura"/>
                <a:ea typeface="Futura"/>
                <a:cs typeface="Futura"/>
              </a:rPr>
              <a:t>#D4FF37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738360" y="2743200"/>
            <a:ext cx="1481328" cy="1371600"/>
          </a:xfrm>
          <a:prstGeom prst="roundRect">
            <a:avLst>
              <a:gd name="adj" fmla="val 8000"/>
            </a:avLst>
          </a:prstGeom>
          <a:solidFill>
            <a:srgbClr val="E60023"/>
          </a:solidFill>
          <a:ln w="12700">
            <a:solidFill>
              <a:srgbClr val="253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66376" y="3547872"/>
            <a:ext cx="12984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4F8FF"/>
                </a:solidFill>
                <a:latin typeface="Futura"/>
                <a:ea typeface="Futura"/>
                <a:cs typeface="Futura"/>
              </a:rPr>
              <a:t>Nike Red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66376" y="3803904"/>
            <a:ext cx="12984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F4F8FF"/>
                </a:solidFill>
                <a:latin typeface="Futura"/>
                <a:ea typeface="Futura"/>
                <a:cs typeface="Futura"/>
              </a:rPr>
              <a:t>#E60023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37960" y="4261104"/>
            <a:ext cx="1481328" cy="1371600"/>
          </a:xfrm>
          <a:prstGeom prst="roundRect">
            <a:avLst>
              <a:gd name="adj" fmla="val 8000"/>
            </a:avLst>
          </a:prstGeom>
          <a:solidFill>
            <a:srgbClr val="F4F8FF"/>
          </a:solidFill>
          <a:ln w="12700">
            <a:solidFill>
              <a:srgbClr val="253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65976" y="5065776"/>
            <a:ext cx="12984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00000"/>
                </a:solidFill>
                <a:latin typeface="Futura"/>
                <a:ea typeface="Futura"/>
                <a:cs typeface="Futura"/>
              </a:rPr>
              <a:t>Pure White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65976" y="5321808"/>
            <a:ext cx="12984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000000"/>
                </a:solidFill>
                <a:latin typeface="Futura"/>
                <a:ea typeface="Futura"/>
                <a:cs typeface="Futura"/>
              </a:rPr>
              <a:t>#F4F8FF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38160" y="4261104"/>
            <a:ext cx="1481328" cy="1371600"/>
          </a:xfrm>
          <a:prstGeom prst="roundRect">
            <a:avLst>
              <a:gd name="adj" fmla="val 8000"/>
            </a:avLst>
          </a:prstGeom>
          <a:solidFill>
            <a:srgbClr val="000000"/>
          </a:solidFill>
          <a:ln w="12700">
            <a:solidFill>
              <a:srgbClr val="253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66176" y="5065776"/>
            <a:ext cx="12984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4F8FF"/>
                </a:solidFill>
                <a:latin typeface="Futura"/>
                <a:ea typeface="Futura"/>
                <a:cs typeface="Futura"/>
              </a:rPr>
              <a:t>Deep Black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66176" y="5321808"/>
            <a:ext cx="12984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F4F8FF"/>
                </a:solidFill>
                <a:latin typeface="Futura"/>
                <a:ea typeface="Futura"/>
                <a:cs typeface="Futura"/>
              </a:rPr>
              <a:t>#000000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738360" y="4261104"/>
            <a:ext cx="1481328" cy="1371600"/>
          </a:xfrm>
          <a:prstGeom prst="roundRect">
            <a:avLst>
              <a:gd name="adj" fmla="val 8000"/>
            </a:avLst>
          </a:prstGeom>
          <a:solidFill>
            <a:srgbClr val="7D93A8"/>
          </a:solidFill>
          <a:ln w="12700">
            <a:solidFill>
              <a:srgbClr val="253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866376" y="5065776"/>
            <a:ext cx="12984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00000"/>
                </a:solidFill>
                <a:latin typeface="Futura"/>
                <a:ea typeface="Futura"/>
                <a:cs typeface="Futura"/>
              </a:rPr>
              <a:t>Dim Slate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66376" y="5321808"/>
            <a:ext cx="12984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000000"/>
                </a:solidFill>
                <a:latin typeface="Futura"/>
                <a:ea typeface="Futura"/>
                <a:cs typeface="Futura"/>
              </a:rPr>
              <a:t>#7D93A8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7960" y="5650992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7D93A8"/>
                </a:solidFill>
                <a:latin typeface="Futura"/>
                <a:ea typeface="Futura"/>
                <a:cs typeface="Futura"/>
              </a:rPr>
              <a:t>+ accenti olimpici  </a:t>
            </a:r>
            <a:r>
              <a:rPr sz="1200" b="1" i="0">
                <a:solidFill>
                  <a:srgbClr val="0085C7"/>
                </a:solidFill>
                <a:latin typeface="Futura"/>
                <a:ea typeface="Futura"/>
                <a:cs typeface="Futura"/>
              </a:rPr>
              <a:t>● blu  </a:t>
            </a:r>
            <a:r>
              <a:rPr sz="1200" b="1" i="0">
                <a:solidFill>
                  <a:srgbClr val="E60012"/>
                </a:solidFill>
                <a:latin typeface="Futura"/>
                <a:ea typeface="Futura"/>
                <a:cs typeface="Futura"/>
              </a:rPr>
              <a:t>● rosso  </a:t>
            </a:r>
            <a:r>
              <a:rPr sz="1200" b="1" i="0">
                <a:solidFill>
                  <a:srgbClr val="F4C300"/>
                </a:solidFill>
                <a:latin typeface="Futura"/>
                <a:ea typeface="Futura"/>
                <a:cs typeface="Futura"/>
              </a:rPr>
              <a:t>● giallo  </a:t>
            </a:r>
            <a:r>
              <a:rPr sz="1200" b="1" i="0">
                <a:solidFill>
                  <a:srgbClr val="009F3D"/>
                </a:solidFill>
                <a:latin typeface="Futura"/>
                <a:ea typeface="Futura"/>
                <a:cs typeface="Futura"/>
              </a:rPr>
              <a:t>● verde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 spc="200">
                <a:solidFill>
                  <a:srgbClr val="7FDFFF"/>
                </a:solidFill>
                <a:latin typeface="Futura"/>
                <a:ea typeface="Futura"/>
                <a:cs typeface="Futura"/>
              </a:rPr>
              <a:t>ATLAS</a:t>
            </a:r>
            <a:r>
              <a:rPr sz="1000" b="0" i="0" spc="100">
                <a:solidFill>
                  <a:srgbClr val="7D93A8"/>
                </a:solidFill>
                <a:latin typeface="Futura"/>
                <a:ea typeface="Futura"/>
                <a:cs typeface="Futura"/>
              </a:rPr>
              <a:t>  ·  Design system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789920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7D93A8"/>
                </a:solidFill>
                <a:latin typeface="Futura"/>
                <a:ea typeface="Futura"/>
                <a:cs typeface="Futura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g_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008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 spc="320">
                <a:solidFill>
                  <a:srgbClr val="7FDFFF"/>
                </a:solidFill>
                <a:latin typeface="Futura"/>
                <a:ea typeface="Futura"/>
                <a:cs typeface="Futura"/>
              </a:rPr>
              <a:t>06 · USER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F4F8FF"/>
                </a:solidFill>
                <a:latin typeface="Futura"/>
                <a:ea typeface="Futura"/>
                <a:cs typeface="Futura"/>
              </a:rPr>
              <a:t>Il flusso in quattro fasi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2542032" cy="2286000"/>
          </a:xfrm>
          <a:prstGeom prst="roundRect">
            <a:avLst>
              <a:gd name="adj" fmla="val 6000"/>
            </a:avLst>
          </a:prstGeom>
          <a:solidFill>
            <a:srgbClr val="0E1620"/>
          </a:solidFill>
          <a:ln w="12700">
            <a:solidFill>
              <a:srgbClr val="253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560320"/>
            <a:ext cx="585216" cy="585216"/>
          </a:xfrm>
          <a:prstGeom prst="ellipse">
            <a:avLst/>
          </a:prstGeom>
          <a:solidFill>
            <a:srgbClr val="7FD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42032"/>
            <a:ext cx="585216" cy="58521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00000"/>
                </a:solidFill>
                <a:latin typeface="Futura"/>
                <a:ea typeface="Futura"/>
                <a:cs typeface="Futur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91840"/>
            <a:ext cx="2039111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 spc="100">
                <a:solidFill>
                  <a:srgbClr val="7FDFFF"/>
                </a:solidFill>
                <a:latin typeface="Futura"/>
                <a:ea typeface="Futura"/>
                <a:cs typeface="Futura"/>
              </a:rPr>
              <a:t>AI 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03320"/>
            <a:ext cx="2011679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7D93A8"/>
                </a:solidFill>
                <a:latin typeface="Futura"/>
                <a:ea typeface="Futura"/>
                <a:cs typeface="Futura"/>
              </a:rPr>
              <a:t>Parli con Atlas: garment, occasione e vibe in un dialogo a bolle.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79" y="3154680"/>
            <a:ext cx="3657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3000" b="0" i="0">
                <a:solidFill>
                  <a:srgbClr val="7D93A8"/>
                </a:solidFill>
                <a:latin typeface="Futura"/>
                <a:ea typeface="Futura"/>
                <a:cs typeface="Futura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2286000"/>
            <a:ext cx="2542032" cy="2286000"/>
          </a:xfrm>
          <a:prstGeom prst="roundRect">
            <a:avLst>
              <a:gd name="adj" fmla="val 6000"/>
            </a:avLst>
          </a:prstGeom>
          <a:solidFill>
            <a:srgbClr val="0E1620"/>
          </a:solidFill>
          <a:ln w="12700">
            <a:solidFill>
              <a:srgbClr val="253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703320" y="2560320"/>
            <a:ext cx="585216" cy="585216"/>
          </a:xfrm>
          <a:prstGeom prst="ellipse">
            <a:avLst/>
          </a:prstGeom>
          <a:solidFill>
            <a:srgbClr val="D4F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03320" y="2542032"/>
            <a:ext cx="585216" cy="58521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00000"/>
                </a:solidFill>
                <a:latin typeface="Futura"/>
                <a:ea typeface="Futura"/>
                <a:cs typeface="Futur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3291840"/>
            <a:ext cx="2039111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 spc="100">
                <a:solidFill>
                  <a:srgbClr val="D4FF37"/>
                </a:solidFill>
                <a:latin typeface="Futura"/>
                <a:ea typeface="Futura"/>
                <a:cs typeface="Futura"/>
              </a:rPr>
              <a:t>SCAN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3703320"/>
            <a:ext cx="2011679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7D93A8"/>
                </a:solidFill>
                <a:latin typeface="Futura"/>
                <a:ea typeface="Futura"/>
                <a:cs typeface="Futura"/>
              </a:rPr>
              <a:t>Scansione LIDAR: taglia esatta, altezza, vestibilità.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599" y="3154680"/>
            <a:ext cx="3657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3000" b="0" i="0">
                <a:solidFill>
                  <a:srgbClr val="7D93A8"/>
                </a:solidFill>
                <a:latin typeface="Futura"/>
                <a:ea typeface="Futura"/>
                <a:cs typeface="Futura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286000"/>
            <a:ext cx="2542032" cy="2286000"/>
          </a:xfrm>
          <a:prstGeom prst="roundRect">
            <a:avLst>
              <a:gd name="adj" fmla="val 6000"/>
            </a:avLst>
          </a:prstGeom>
          <a:solidFill>
            <a:srgbClr val="0E1620"/>
          </a:solidFill>
          <a:ln w="12700">
            <a:solidFill>
              <a:srgbClr val="253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92240" y="2560320"/>
            <a:ext cx="585216" cy="585216"/>
          </a:xfrm>
          <a:prstGeom prst="ellipse">
            <a:avLst/>
          </a:prstGeom>
          <a:solidFill>
            <a:srgbClr val="0085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542032"/>
            <a:ext cx="585216" cy="58521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00000"/>
                </a:solidFill>
                <a:latin typeface="Futura"/>
                <a:ea typeface="Futura"/>
                <a:cs typeface="Futur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291840"/>
            <a:ext cx="2039111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 spc="100">
                <a:solidFill>
                  <a:srgbClr val="0085C7"/>
                </a:solidFill>
                <a:latin typeface="Futura"/>
                <a:ea typeface="Futura"/>
                <a:cs typeface="Futura"/>
              </a:rPr>
              <a:t>STYLE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703320"/>
            <a:ext cx="2011679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7D93A8"/>
                </a:solidFill>
                <a:latin typeface="Futura"/>
                <a:ea typeface="Futura"/>
                <a:cs typeface="Futura"/>
              </a:rPr>
              <a:t>Direzione di stile su misura con i pezzi che fanno MATCH.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3154680"/>
            <a:ext cx="3657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3000" b="0" i="0">
                <a:solidFill>
                  <a:srgbClr val="7D93A8"/>
                </a:solidFill>
                <a:latin typeface="Futura"/>
                <a:ea typeface="Futura"/>
                <a:cs typeface="Futura"/>
              </a:rP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06839" y="2286000"/>
            <a:ext cx="2542032" cy="2286000"/>
          </a:xfrm>
          <a:prstGeom prst="roundRect">
            <a:avLst>
              <a:gd name="adj" fmla="val 6000"/>
            </a:avLst>
          </a:prstGeom>
          <a:solidFill>
            <a:srgbClr val="0E1620"/>
          </a:solidFill>
          <a:ln w="12700">
            <a:solidFill>
              <a:srgbClr val="253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281159" y="2560320"/>
            <a:ext cx="585216" cy="585216"/>
          </a:xfrm>
          <a:prstGeom prst="ellipse">
            <a:avLst/>
          </a:prstGeom>
          <a:solidFill>
            <a:srgbClr val="009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81159" y="2542032"/>
            <a:ext cx="585216" cy="58521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00000"/>
                </a:solidFill>
                <a:latin typeface="Futura"/>
                <a:ea typeface="Futura"/>
                <a:cs typeface="Futur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81159" y="3291840"/>
            <a:ext cx="2039111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 spc="100">
                <a:solidFill>
                  <a:srgbClr val="009F3D"/>
                </a:solidFill>
                <a:latin typeface="Futura"/>
                <a:ea typeface="Futura"/>
                <a:cs typeface="Futura"/>
              </a:rPr>
              <a:t>LOCATE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1159" y="3703320"/>
            <a:ext cx="2011679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7D93A8"/>
                </a:solidFill>
                <a:latin typeface="Futura"/>
                <a:ea typeface="Futura"/>
                <a:cs typeface="Futura"/>
              </a:rPr>
              <a:t>Wayfinding al piano giusto + codice di ritiro in cassa.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983480"/>
            <a:ext cx="10908792" cy="1143000"/>
          </a:xfrm>
          <a:prstGeom prst="roundRect">
            <a:avLst>
              <a:gd name="adj" fmla="val 6000"/>
            </a:avLst>
          </a:prstGeom>
          <a:solidFill>
            <a:srgbClr val="100618"/>
          </a:solidFill>
          <a:ln w="12700">
            <a:solidFill>
              <a:srgbClr val="3A12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32688" y="5294376"/>
            <a:ext cx="530352" cy="530352"/>
          </a:xfrm>
          <a:prstGeom prst="ellipse">
            <a:avLst/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8" y="527608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4F8FF"/>
                </a:solidFill>
                <a:latin typeface="Futura"/>
                <a:ea typeface="Futura"/>
                <a:cs typeface="Futura"/>
              </a:rPr>
              <a:t>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27632" y="518464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 spc="100">
                <a:solidFill>
                  <a:srgbClr val="F4C300"/>
                </a:solidFill>
                <a:latin typeface="Futura"/>
                <a:ea typeface="Futura"/>
                <a:cs typeface="Futura"/>
              </a:rPr>
              <a:t>RAMO PARALLELO · </a:t>
            </a:r>
            <a:r>
              <a:rPr sz="1600" b="1" i="0">
                <a:solidFill>
                  <a:srgbClr val="F4F8FF"/>
                </a:solidFill>
                <a:latin typeface="Futura"/>
                <a:ea typeface="Futura"/>
                <a:cs typeface="Futura"/>
              </a:rPr>
              <a:t>Olympic Arena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27632" y="5586984"/>
            <a:ext cx="97840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7D93A8"/>
                </a:solidFill>
                <a:latin typeface="Futura"/>
                <a:ea typeface="Futura"/>
                <a:cs typeface="Futura"/>
              </a:rPr>
              <a:t>In qualsiasi momento il cliente può giocare per sbloccare lo sconto — e tornare allo store con il codice.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 spc="200">
                <a:solidFill>
                  <a:srgbClr val="7FDFFF"/>
                </a:solidFill>
                <a:latin typeface="Futura"/>
                <a:ea typeface="Futura"/>
                <a:cs typeface="Futura"/>
              </a:rPr>
              <a:t>ATLAS</a:t>
            </a:r>
            <a:r>
              <a:rPr sz="1000" b="0" i="0" spc="100">
                <a:solidFill>
                  <a:srgbClr val="7D93A8"/>
                </a:solidFill>
                <a:latin typeface="Futura"/>
                <a:ea typeface="Futura"/>
                <a:cs typeface="Futura"/>
              </a:rPr>
              <a:t>  ·  User journey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89920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7D93A8"/>
                </a:solidFill>
                <a:latin typeface="Futura"/>
                <a:ea typeface="Futura"/>
                <a:cs typeface="Futura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g_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008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 spc="320">
                <a:solidFill>
                  <a:srgbClr val="7FDFFF"/>
                </a:solidFill>
                <a:latin typeface="Futura"/>
                <a:ea typeface="Futura"/>
                <a:cs typeface="Futura"/>
              </a:rPr>
              <a:t>07 · WIREFRAME — LOW FIDELITY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F4F8FF"/>
                </a:solidFill>
                <a:latin typeface="Futura"/>
                <a:ea typeface="Futura"/>
                <a:cs typeface="Futura"/>
              </a:rPr>
              <a:t>Sketch della navigazione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7D93A8"/>
                </a:solidFill>
                <a:latin typeface="Futura"/>
                <a:ea typeface="Futura"/>
                <a:cs typeface="Futura"/>
              </a:rPr>
              <a:t>Formato kiosk verticale 9:16 · 5 schermate chiave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240280"/>
            <a:ext cx="1938528" cy="3703320"/>
          </a:xfrm>
          <a:prstGeom prst="roundRect">
            <a:avLst>
              <a:gd name="adj" fmla="val 7000"/>
            </a:avLst>
          </a:prstGeom>
          <a:solidFill>
            <a:srgbClr val="0B121A"/>
          </a:solidFill>
          <a:ln w="20320">
            <a:solidFill>
              <a:srgbClr val="2A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6112" y="2441448"/>
            <a:ext cx="786384" cy="146304"/>
          </a:xfrm>
          <a:prstGeom prst="roundRect">
            <a:avLst>
              <a:gd name="adj" fmla="val 18000"/>
            </a:avLst>
          </a:prstGeom>
          <a:solidFill>
            <a:srgbClr val="1A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71016" y="2788920"/>
            <a:ext cx="822960" cy="822960"/>
          </a:xfrm>
          <a:prstGeom prst="ellipse">
            <a:avLst/>
          </a:prstGeom>
          <a:noFill/>
          <a:ln w="25400">
            <a:solidFill>
              <a:srgbClr val="2A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6112" y="3794760"/>
            <a:ext cx="1572768" cy="457200"/>
          </a:xfrm>
          <a:prstGeom prst="roundRect">
            <a:avLst>
              <a:gd name="adj" fmla="val 18000"/>
            </a:avLst>
          </a:prstGeom>
          <a:solidFill>
            <a:srgbClr val="1A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6112" y="4389120"/>
            <a:ext cx="1258214" cy="228600"/>
          </a:xfrm>
          <a:prstGeom prst="roundRect">
            <a:avLst>
              <a:gd name="adj" fmla="val 18000"/>
            </a:avLst>
          </a:prstGeom>
          <a:solidFill>
            <a:srgbClr val="1A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96112" y="5166360"/>
            <a:ext cx="1572768" cy="502920"/>
          </a:xfrm>
          <a:prstGeom prst="roundRect">
            <a:avLst>
              <a:gd name="adj" fmla="val 18000"/>
            </a:avLst>
          </a:prstGeom>
          <a:solidFill>
            <a:srgbClr val="1A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6053328"/>
            <a:ext cx="193852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i="0" spc="100">
                <a:solidFill>
                  <a:srgbClr val="F4F8FF"/>
                </a:solidFill>
                <a:latin typeface="Futura"/>
                <a:ea typeface="Futura"/>
                <a:cs typeface="Futura"/>
              </a:rPr>
              <a:t>1. ATTRACT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26080" y="2240280"/>
            <a:ext cx="1938528" cy="3703320"/>
          </a:xfrm>
          <a:prstGeom prst="roundRect">
            <a:avLst>
              <a:gd name="adj" fmla="val 7000"/>
            </a:avLst>
          </a:prstGeom>
          <a:solidFill>
            <a:srgbClr val="0B121A"/>
          </a:solidFill>
          <a:ln w="20320">
            <a:solidFill>
              <a:srgbClr val="2A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108960" y="2441448"/>
            <a:ext cx="786384" cy="146304"/>
          </a:xfrm>
          <a:prstGeom prst="roundRect">
            <a:avLst>
              <a:gd name="adj" fmla="val 18000"/>
            </a:avLst>
          </a:prstGeom>
          <a:solidFill>
            <a:srgbClr val="1A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834640"/>
            <a:ext cx="731520" cy="731520"/>
          </a:xfrm>
          <a:prstGeom prst="ellipse">
            <a:avLst/>
          </a:prstGeom>
          <a:noFill/>
          <a:ln w="25400">
            <a:solidFill>
              <a:srgbClr val="2A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291840" y="3794760"/>
            <a:ext cx="1207008" cy="274320"/>
          </a:xfrm>
          <a:prstGeom prst="roundRect">
            <a:avLst>
              <a:gd name="adj" fmla="val 18000"/>
            </a:avLst>
          </a:prstGeom>
          <a:solidFill>
            <a:srgbClr val="1A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246120" y="4297680"/>
            <a:ext cx="548640" cy="548640"/>
          </a:xfrm>
          <a:prstGeom prst="ellipse">
            <a:avLst/>
          </a:prstGeom>
          <a:noFill/>
          <a:ln w="25400">
            <a:solidFill>
              <a:srgbClr val="2A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111142" y="4297680"/>
            <a:ext cx="548640" cy="548640"/>
          </a:xfrm>
          <a:prstGeom prst="ellipse">
            <a:avLst/>
          </a:prstGeom>
          <a:noFill/>
          <a:ln w="25400">
            <a:solidFill>
              <a:srgbClr val="2A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246120" y="4983480"/>
            <a:ext cx="548640" cy="548640"/>
          </a:xfrm>
          <a:prstGeom prst="ellipse">
            <a:avLst/>
          </a:prstGeom>
          <a:noFill/>
          <a:ln w="25400">
            <a:solidFill>
              <a:srgbClr val="2A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111142" y="4983480"/>
            <a:ext cx="548640" cy="548640"/>
          </a:xfrm>
          <a:prstGeom prst="ellipse">
            <a:avLst/>
          </a:prstGeom>
          <a:noFill/>
          <a:ln w="25400">
            <a:solidFill>
              <a:srgbClr val="2A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108960" y="5577840"/>
            <a:ext cx="1572768" cy="256032"/>
          </a:xfrm>
          <a:prstGeom prst="roundRect">
            <a:avLst>
              <a:gd name="adj" fmla="val 18000"/>
            </a:avLst>
          </a:prstGeom>
          <a:solidFill>
            <a:srgbClr val="1A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26080" y="6053328"/>
            <a:ext cx="193852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i="0" spc="100">
                <a:solidFill>
                  <a:srgbClr val="F4F8FF"/>
                </a:solidFill>
                <a:latin typeface="Futura"/>
                <a:ea typeface="Futura"/>
                <a:cs typeface="Futura"/>
              </a:rPr>
              <a:t>2. AI CORE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38928" y="2240280"/>
            <a:ext cx="1938528" cy="3703320"/>
          </a:xfrm>
          <a:prstGeom prst="roundRect">
            <a:avLst>
              <a:gd name="adj" fmla="val 7000"/>
            </a:avLst>
          </a:prstGeom>
          <a:solidFill>
            <a:srgbClr val="0B121A"/>
          </a:solidFill>
          <a:ln w="20320">
            <a:solidFill>
              <a:srgbClr val="2A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321808" y="2441448"/>
            <a:ext cx="786384" cy="146304"/>
          </a:xfrm>
          <a:prstGeom prst="roundRect">
            <a:avLst>
              <a:gd name="adj" fmla="val 18000"/>
            </a:avLst>
          </a:prstGeom>
          <a:solidFill>
            <a:srgbClr val="1A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724144" y="2880360"/>
            <a:ext cx="768096" cy="1737360"/>
          </a:xfrm>
          <a:prstGeom prst="roundRect">
            <a:avLst>
              <a:gd name="adj" fmla="val 20000"/>
            </a:avLst>
          </a:prstGeom>
          <a:noFill/>
          <a:ln w="12700">
            <a:solidFill>
              <a:srgbClr val="2A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321808" y="3611880"/>
            <a:ext cx="1572768" cy="45720"/>
          </a:xfrm>
          <a:prstGeom prst="rect">
            <a:avLst/>
          </a:prstGeom>
          <a:solidFill>
            <a:srgbClr val="7FD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321808" y="4846320"/>
            <a:ext cx="723473" cy="310896"/>
          </a:xfrm>
          <a:prstGeom prst="roundRect">
            <a:avLst>
              <a:gd name="adj" fmla="val 18000"/>
            </a:avLst>
          </a:prstGeom>
          <a:solidFill>
            <a:srgbClr val="1A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139647" y="4846320"/>
            <a:ext cx="723473" cy="310896"/>
          </a:xfrm>
          <a:prstGeom prst="roundRect">
            <a:avLst>
              <a:gd name="adj" fmla="val 18000"/>
            </a:avLst>
          </a:prstGeom>
          <a:solidFill>
            <a:srgbClr val="1A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321808" y="5257800"/>
            <a:ext cx="723473" cy="310896"/>
          </a:xfrm>
          <a:prstGeom prst="roundRect">
            <a:avLst>
              <a:gd name="adj" fmla="val 18000"/>
            </a:avLst>
          </a:prstGeom>
          <a:solidFill>
            <a:srgbClr val="1A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139647" y="5257800"/>
            <a:ext cx="723473" cy="310896"/>
          </a:xfrm>
          <a:prstGeom prst="roundRect">
            <a:avLst>
              <a:gd name="adj" fmla="val 18000"/>
            </a:avLst>
          </a:prstGeom>
          <a:solidFill>
            <a:srgbClr val="1A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321808" y="5696712"/>
            <a:ext cx="1572768" cy="164592"/>
          </a:xfrm>
          <a:prstGeom prst="roundRect">
            <a:avLst>
              <a:gd name="adj" fmla="val 18000"/>
            </a:avLst>
          </a:prstGeom>
          <a:solidFill>
            <a:srgbClr val="1A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38928" y="6053328"/>
            <a:ext cx="193852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i="0" spc="100">
                <a:solidFill>
                  <a:srgbClr val="F4F8FF"/>
                </a:solidFill>
                <a:latin typeface="Futura"/>
                <a:ea typeface="Futura"/>
                <a:cs typeface="Futura"/>
              </a:rPr>
              <a:t>3. SCAN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51775" y="2240280"/>
            <a:ext cx="1938528" cy="3703320"/>
          </a:xfrm>
          <a:prstGeom prst="roundRect">
            <a:avLst>
              <a:gd name="adj" fmla="val 7000"/>
            </a:avLst>
          </a:prstGeom>
          <a:solidFill>
            <a:srgbClr val="0B121A"/>
          </a:solidFill>
          <a:ln w="20320">
            <a:solidFill>
              <a:srgbClr val="2A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534655" y="2441448"/>
            <a:ext cx="786384" cy="146304"/>
          </a:xfrm>
          <a:prstGeom prst="roundRect">
            <a:avLst>
              <a:gd name="adj" fmla="val 18000"/>
            </a:avLst>
          </a:prstGeom>
          <a:solidFill>
            <a:srgbClr val="1A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534655" y="2743200"/>
            <a:ext cx="1100937" cy="274320"/>
          </a:xfrm>
          <a:prstGeom prst="roundRect">
            <a:avLst>
              <a:gd name="adj" fmla="val 18000"/>
            </a:avLst>
          </a:prstGeom>
          <a:solidFill>
            <a:srgbClr val="1A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534655" y="3154680"/>
            <a:ext cx="723473" cy="658368"/>
          </a:xfrm>
          <a:prstGeom prst="roundRect">
            <a:avLst>
              <a:gd name="adj" fmla="val 12000"/>
            </a:avLst>
          </a:prstGeom>
          <a:solidFill>
            <a:srgbClr val="1A2430"/>
          </a:solidFill>
          <a:ln w="12700">
            <a:solidFill>
              <a:srgbClr val="2A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352495" y="3154680"/>
            <a:ext cx="723473" cy="658368"/>
          </a:xfrm>
          <a:prstGeom prst="roundRect">
            <a:avLst>
              <a:gd name="adj" fmla="val 12000"/>
            </a:avLst>
          </a:prstGeom>
          <a:solidFill>
            <a:srgbClr val="1A2430"/>
          </a:solidFill>
          <a:ln w="12700">
            <a:solidFill>
              <a:srgbClr val="2A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534655" y="3931920"/>
            <a:ext cx="723473" cy="658368"/>
          </a:xfrm>
          <a:prstGeom prst="roundRect">
            <a:avLst>
              <a:gd name="adj" fmla="val 12000"/>
            </a:avLst>
          </a:prstGeom>
          <a:solidFill>
            <a:srgbClr val="1A2430"/>
          </a:solidFill>
          <a:ln w="12700">
            <a:solidFill>
              <a:srgbClr val="2A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352495" y="3931920"/>
            <a:ext cx="723473" cy="658368"/>
          </a:xfrm>
          <a:prstGeom prst="roundRect">
            <a:avLst>
              <a:gd name="adj" fmla="val 12000"/>
            </a:avLst>
          </a:prstGeom>
          <a:solidFill>
            <a:srgbClr val="1A2430"/>
          </a:solidFill>
          <a:ln w="12700">
            <a:solidFill>
              <a:srgbClr val="2A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534655" y="4709160"/>
            <a:ext cx="723473" cy="658368"/>
          </a:xfrm>
          <a:prstGeom prst="roundRect">
            <a:avLst>
              <a:gd name="adj" fmla="val 12000"/>
            </a:avLst>
          </a:prstGeom>
          <a:solidFill>
            <a:srgbClr val="1A2430"/>
          </a:solidFill>
          <a:ln w="12700">
            <a:solidFill>
              <a:srgbClr val="2A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352495" y="4709160"/>
            <a:ext cx="723473" cy="658368"/>
          </a:xfrm>
          <a:prstGeom prst="roundRect">
            <a:avLst>
              <a:gd name="adj" fmla="val 12000"/>
            </a:avLst>
          </a:prstGeom>
          <a:solidFill>
            <a:srgbClr val="1A2430"/>
          </a:solidFill>
          <a:ln w="12700">
            <a:solidFill>
              <a:srgbClr val="2A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7534655" y="5577840"/>
            <a:ext cx="1572768" cy="256032"/>
          </a:xfrm>
          <a:prstGeom prst="roundRect">
            <a:avLst>
              <a:gd name="adj" fmla="val 18000"/>
            </a:avLst>
          </a:prstGeom>
          <a:solidFill>
            <a:srgbClr val="1A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51775" y="6053328"/>
            <a:ext cx="193852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i="0" spc="100">
                <a:solidFill>
                  <a:srgbClr val="F4F8FF"/>
                </a:solidFill>
                <a:latin typeface="Futura"/>
                <a:ea typeface="Futura"/>
                <a:cs typeface="Futura"/>
              </a:rPr>
              <a:t>4. STYLE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564624" y="2240280"/>
            <a:ext cx="1938528" cy="3703320"/>
          </a:xfrm>
          <a:prstGeom prst="roundRect">
            <a:avLst>
              <a:gd name="adj" fmla="val 7000"/>
            </a:avLst>
          </a:prstGeom>
          <a:solidFill>
            <a:srgbClr val="0B121A"/>
          </a:solidFill>
          <a:ln w="20320">
            <a:solidFill>
              <a:srgbClr val="2A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747503" y="2441448"/>
            <a:ext cx="786384" cy="146304"/>
          </a:xfrm>
          <a:prstGeom prst="roundRect">
            <a:avLst>
              <a:gd name="adj" fmla="val 18000"/>
            </a:avLst>
          </a:prstGeom>
          <a:solidFill>
            <a:srgbClr val="1A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9747503" y="2834640"/>
            <a:ext cx="1572768" cy="457200"/>
          </a:xfrm>
          <a:prstGeom prst="roundRect">
            <a:avLst>
              <a:gd name="adj" fmla="val 14000"/>
            </a:avLst>
          </a:prstGeom>
          <a:solidFill>
            <a:srgbClr val="1A2430"/>
          </a:solidFill>
          <a:ln w="12700">
            <a:solidFill>
              <a:srgbClr val="2A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9747503" y="3401568"/>
            <a:ext cx="1572768" cy="457200"/>
          </a:xfrm>
          <a:prstGeom prst="roundRect">
            <a:avLst>
              <a:gd name="adj" fmla="val 14000"/>
            </a:avLst>
          </a:prstGeom>
          <a:solidFill>
            <a:srgbClr val="1A2430"/>
          </a:solidFill>
          <a:ln w="20320">
            <a:solidFill>
              <a:srgbClr val="D4F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9747503" y="3968496"/>
            <a:ext cx="1572768" cy="457200"/>
          </a:xfrm>
          <a:prstGeom prst="roundRect">
            <a:avLst>
              <a:gd name="adj" fmla="val 14000"/>
            </a:avLst>
          </a:prstGeom>
          <a:solidFill>
            <a:srgbClr val="1A2430"/>
          </a:solidFill>
          <a:ln w="12700">
            <a:solidFill>
              <a:srgbClr val="2A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9747503" y="4709160"/>
            <a:ext cx="1572768" cy="640080"/>
          </a:xfrm>
          <a:prstGeom prst="roundRect">
            <a:avLst>
              <a:gd name="adj" fmla="val 12000"/>
            </a:avLst>
          </a:prstGeom>
          <a:noFill/>
          <a:ln w="12700">
            <a:solidFill>
              <a:srgbClr val="2A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9976103" y="4937760"/>
            <a:ext cx="1115568" cy="228600"/>
          </a:xfrm>
          <a:prstGeom prst="roundRect">
            <a:avLst>
              <a:gd name="adj" fmla="val 18000"/>
            </a:avLst>
          </a:prstGeom>
          <a:solidFill>
            <a:srgbClr val="1A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564624" y="6053328"/>
            <a:ext cx="193852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i="0" spc="100">
                <a:solidFill>
                  <a:srgbClr val="F4F8FF"/>
                </a:solidFill>
                <a:latin typeface="Futura"/>
                <a:ea typeface="Futura"/>
                <a:cs typeface="Futura"/>
              </a:rPr>
              <a:t>5. LOCATE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 spc="200">
                <a:solidFill>
                  <a:srgbClr val="7FDFFF"/>
                </a:solidFill>
                <a:latin typeface="Futura"/>
                <a:ea typeface="Futura"/>
                <a:cs typeface="Futura"/>
              </a:rPr>
              <a:t>ATLAS</a:t>
            </a:r>
            <a:r>
              <a:rPr sz="1000" b="0" i="0" spc="100">
                <a:solidFill>
                  <a:srgbClr val="7D93A8"/>
                </a:solidFill>
                <a:latin typeface="Futura"/>
                <a:ea typeface="Futura"/>
                <a:cs typeface="Futura"/>
              </a:rPr>
              <a:t>  ·  Wireframe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789920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7D93A8"/>
                </a:solidFill>
                <a:latin typeface="Futura"/>
                <a:ea typeface="Futura"/>
                <a:cs typeface="Futura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g_sto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008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 spc="320">
                <a:solidFill>
                  <a:srgbClr val="7FDFFF"/>
                </a:solidFill>
                <a:latin typeface="Futura"/>
                <a:ea typeface="Futura"/>
                <a:cs typeface="Futura"/>
              </a:rPr>
              <a:t>08 · UI DEFINITIVA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F4F8FF"/>
                </a:solidFill>
                <a:latin typeface="Futura"/>
                <a:ea typeface="Futura"/>
                <a:cs typeface="Futura"/>
              </a:rPr>
              <a:t>L'interfaccia finale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7D93A8"/>
                </a:solidFill>
                <a:latin typeface="Futura"/>
                <a:ea typeface="Futura"/>
                <a:cs typeface="Futura"/>
              </a:rPr>
              <a:t>Realizzata in Figma · kiosk 9:16 · palette holografica + Volt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2194560"/>
            <a:ext cx="2395728" cy="3840480"/>
          </a:xfrm>
          <a:prstGeom prst="roundRect">
            <a:avLst>
              <a:gd name="adj" fmla="val 6000"/>
            </a:avLst>
          </a:prstGeom>
          <a:solidFill>
            <a:srgbClr val="000000"/>
          </a:solidFill>
          <a:ln w="25400">
            <a:solidFill>
              <a:srgbClr val="1F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woosh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2697480"/>
            <a:ext cx="1645920" cy="6260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42416" y="3566160"/>
            <a:ext cx="1993392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5000"/>
              </a:lnSpc>
            </a:pPr>
            <a:r>
              <a:rPr sz="2600" b="1" i="0">
                <a:solidFill>
                  <a:srgbClr val="F4F8FF"/>
                </a:solidFill>
                <a:latin typeface="Futura"/>
                <a:ea typeface="Futura"/>
                <a:cs typeface="Futura"/>
              </a:rPr>
              <a:t>Trova
il tuo </a:t>
            </a:r>
            <a:r>
              <a:rPr sz="2600" b="1" i="0">
                <a:solidFill>
                  <a:srgbClr val="7D93A8"/>
                </a:solidFill>
                <a:latin typeface="Futura"/>
                <a:ea typeface="Futura"/>
                <a:cs typeface="Futura"/>
              </a:rPr>
              <a:t>fit.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" y="4663440"/>
            <a:ext cx="1993392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7D93A8"/>
                </a:solidFill>
                <a:latin typeface="Futura"/>
                <a:ea typeface="Futura"/>
                <a:cs typeface="Futura"/>
              </a:rPr>
              <a:t>Parla con Atlas, fatti scansionare, gioca per lo sconto.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2416" y="5440679"/>
            <a:ext cx="1993392" cy="502920"/>
          </a:xfrm>
          <a:prstGeom prst="roundRect">
            <a:avLst>
              <a:gd name="adj" fmla="val 25000"/>
            </a:avLst>
          </a:prstGeom>
          <a:solidFill>
            <a:srgbClr val="F4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2416" y="5440679"/>
            <a:ext cx="1993392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000000"/>
                </a:solidFill>
                <a:latin typeface="Futura"/>
                <a:ea typeface="Futura"/>
                <a:cs typeface="Futura"/>
              </a:rPr>
              <a:t>INIZIA · Tocca o parla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6144768"/>
            <a:ext cx="239572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7FDFFF"/>
                </a:solidFill>
                <a:latin typeface="Futura"/>
                <a:ea typeface="Futura"/>
                <a:cs typeface="Futura"/>
              </a:rPr>
              <a:t>Attract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21024" y="2194560"/>
            <a:ext cx="2395728" cy="3840480"/>
          </a:xfrm>
          <a:prstGeom prst="roundRect">
            <a:avLst>
              <a:gd name="adj" fmla="val 6000"/>
            </a:avLst>
          </a:prstGeom>
          <a:solidFill>
            <a:srgbClr val="000000"/>
          </a:solidFill>
          <a:ln w="25400">
            <a:solidFill>
              <a:srgbClr val="1F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22191" y="2423160"/>
            <a:ext cx="199339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D4FF37"/>
                </a:solidFill>
                <a:latin typeface="Futura"/>
                <a:ea typeface="Futura"/>
                <a:cs typeface="Futura"/>
              </a:rPr>
              <a:t>● ATLAS AI · ONLINE</a:t>
            </a:r>
          </a:p>
        </p:txBody>
      </p:sp>
      <p:sp>
        <p:nvSpPr>
          <p:cNvPr id="16" name="Oval 15"/>
          <p:cNvSpPr/>
          <p:nvPr/>
        </p:nvSpPr>
        <p:spPr>
          <a:xfrm>
            <a:off x="4315968" y="2834639"/>
            <a:ext cx="1005840" cy="1005840"/>
          </a:xfrm>
          <a:prstGeom prst="ellipse">
            <a:avLst/>
          </a:prstGeom>
          <a:solidFill>
            <a:srgbClr val="0085C7"/>
          </a:solidFill>
          <a:ln w="25400">
            <a:solidFill>
              <a:srgbClr val="7FD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133087" y="2651760"/>
            <a:ext cx="1371600" cy="1371600"/>
          </a:xfrm>
          <a:prstGeom prst="ellipse">
            <a:avLst/>
          </a:prstGeom>
          <a:noFill/>
          <a:ln w="12700">
            <a:solidFill>
              <a:srgbClr val="1F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22191" y="4069079"/>
            <a:ext cx="1993392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4F8FF"/>
                </a:solidFill>
                <a:latin typeface="Futura"/>
                <a:ea typeface="Futura"/>
                <a:cs typeface="Futura"/>
              </a:rPr>
              <a:t>Cosa cerchi oggi?</a:t>
            </a:r>
          </a:p>
        </p:txBody>
      </p:sp>
      <p:sp>
        <p:nvSpPr>
          <p:cNvPr id="19" name="Oval 18"/>
          <p:cNvSpPr/>
          <p:nvPr/>
        </p:nvSpPr>
        <p:spPr>
          <a:xfrm>
            <a:off x="3895344" y="4572000"/>
            <a:ext cx="868680" cy="868680"/>
          </a:xfrm>
          <a:prstGeom prst="ellipse">
            <a:avLst/>
          </a:prstGeom>
          <a:noFill/>
          <a:ln w="22860">
            <a:solidFill>
              <a:srgbClr val="7FD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22191" y="4572000"/>
            <a:ext cx="1014983" cy="86868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7FDFFF"/>
                </a:solidFill>
                <a:latin typeface="Futura"/>
                <a:ea typeface="Futura"/>
                <a:cs typeface="Futura"/>
              </a:rPr>
              <a:t>Calzature</a:t>
            </a:r>
          </a:p>
        </p:txBody>
      </p:sp>
      <p:sp>
        <p:nvSpPr>
          <p:cNvPr id="21" name="Oval 20"/>
          <p:cNvSpPr/>
          <p:nvPr/>
        </p:nvSpPr>
        <p:spPr>
          <a:xfrm>
            <a:off x="4946904" y="4709160"/>
            <a:ext cx="640080" cy="640080"/>
          </a:xfrm>
          <a:prstGeom prst="ellipse">
            <a:avLst/>
          </a:prstGeom>
          <a:noFill/>
          <a:ln w="22860">
            <a:solidFill>
              <a:srgbClr val="D4F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73752" y="4709160"/>
            <a:ext cx="786384" cy="64008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D4FF37"/>
                </a:solidFill>
                <a:latin typeface="Futura"/>
                <a:ea typeface="Futura"/>
                <a:cs typeface="Futura"/>
              </a:rPr>
              <a:t>Top</a:t>
            </a:r>
          </a:p>
        </p:txBody>
      </p:sp>
      <p:sp>
        <p:nvSpPr>
          <p:cNvPr id="23" name="Oval 22"/>
          <p:cNvSpPr/>
          <p:nvPr/>
        </p:nvSpPr>
        <p:spPr>
          <a:xfrm>
            <a:off x="4123944" y="5349240"/>
            <a:ext cx="713232" cy="713232"/>
          </a:xfrm>
          <a:prstGeom prst="ellipse">
            <a:avLst/>
          </a:prstGeom>
          <a:noFill/>
          <a:ln w="22860">
            <a:solidFill>
              <a:srgbClr val="0085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50791" y="5349240"/>
            <a:ext cx="859536" cy="7132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0085C7"/>
                </a:solidFill>
                <a:latin typeface="Futura"/>
                <a:ea typeface="Futura"/>
                <a:cs typeface="Futura"/>
              </a:rPr>
              <a:t>Bottom</a:t>
            </a:r>
          </a:p>
        </p:txBody>
      </p:sp>
      <p:sp>
        <p:nvSpPr>
          <p:cNvPr id="25" name="Oval 24"/>
          <p:cNvSpPr/>
          <p:nvPr/>
        </p:nvSpPr>
        <p:spPr>
          <a:xfrm>
            <a:off x="5038344" y="5440679"/>
            <a:ext cx="566928" cy="566928"/>
          </a:xfrm>
          <a:prstGeom prst="ellipse">
            <a:avLst/>
          </a:prstGeom>
          <a:noFill/>
          <a:ln w="22860">
            <a:solidFill>
              <a:srgbClr val="7FD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65192" y="5440679"/>
            <a:ext cx="713232" cy="56692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7FDFFF"/>
                </a:solidFill>
                <a:latin typeface="Futura"/>
                <a:ea typeface="Futura"/>
                <a:cs typeface="Futura"/>
              </a:rPr>
              <a:t>Extra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21024" y="6144768"/>
            <a:ext cx="239572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7FDFFF"/>
                </a:solidFill>
                <a:latin typeface="Futura"/>
                <a:ea typeface="Futura"/>
                <a:cs typeface="Futura"/>
              </a:rPr>
              <a:t>AI Core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2194560"/>
            <a:ext cx="2395728" cy="3840480"/>
          </a:xfrm>
          <a:prstGeom prst="roundRect">
            <a:avLst>
              <a:gd name="adj" fmla="val 6000"/>
            </a:avLst>
          </a:prstGeom>
          <a:solidFill>
            <a:srgbClr val="000000"/>
          </a:solidFill>
          <a:ln w="25400">
            <a:solidFill>
              <a:srgbClr val="1F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01968" y="2450591"/>
            <a:ext cx="1993392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4F8FF"/>
                </a:solidFill>
                <a:latin typeface="Futura"/>
                <a:ea typeface="Futura"/>
                <a:cs typeface="Futura"/>
              </a:rPr>
              <a:t>La tua direzione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01968" y="2907791"/>
            <a:ext cx="1002182" cy="329184"/>
          </a:xfrm>
          <a:prstGeom prst="roundRect">
            <a:avLst>
              <a:gd name="adj" fmla="val 50000"/>
            </a:avLst>
          </a:prstGeom>
          <a:noFill/>
          <a:ln w="15240">
            <a:solidFill>
              <a:srgbClr val="7FD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01968" y="2889503"/>
            <a:ext cx="1002182" cy="3291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 i="0" spc="100">
                <a:solidFill>
                  <a:srgbClr val="7FDFFF"/>
                </a:solidFill>
                <a:latin typeface="Futura"/>
                <a:ea typeface="Futura"/>
                <a:cs typeface="Futura"/>
              </a:rPr>
              <a:t>MINIMAL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653527" y="2907791"/>
            <a:ext cx="705916" cy="329184"/>
          </a:xfrm>
          <a:prstGeom prst="roundRect">
            <a:avLst>
              <a:gd name="adj" fmla="val 50000"/>
            </a:avLst>
          </a:prstGeom>
          <a:noFill/>
          <a:ln w="15240">
            <a:solidFill>
              <a:srgbClr val="0085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53527" y="2889503"/>
            <a:ext cx="705916" cy="3291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 i="0" spc="100">
                <a:solidFill>
                  <a:srgbClr val="0085C7"/>
                </a:solidFill>
                <a:latin typeface="Futura"/>
                <a:ea typeface="Futura"/>
                <a:cs typeface="Futura"/>
              </a:rPr>
              <a:t>TECH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601968" y="3383280"/>
            <a:ext cx="932688" cy="960120"/>
          </a:xfrm>
          <a:prstGeom prst="roundRect">
            <a:avLst>
              <a:gd name="adj" fmla="val 10000"/>
            </a:avLst>
          </a:prstGeom>
          <a:solidFill>
            <a:srgbClr val="0E1620"/>
          </a:solidFill>
          <a:ln w="12700">
            <a:solidFill>
              <a:srgbClr val="253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684264" y="3465576"/>
            <a:ext cx="768096" cy="475488"/>
          </a:xfrm>
          <a:prstGeom prst="roundRect">
            <a:avLst>
              <a:gd name="adj" fmla="val 10000"/>
            </a:avLst>
          </a:prstGeom>
          <a:solidFill>
            <a:srgbClr val="0C11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059168" y="3429000"/>
            <a:ext cx="429768" cy="182880"/>
          </a:xfrm>
          <a:prstGeom prst="roundRect">
            <a:avLst>
              <a:gd name="adj" fmla="val 50000"/>
            </a:avLst>
          </a:prstGeom>
          <a:solidFill>
            <a:srgbClr val="D4F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59168" y="3419856"/>
            <a:ext cx="429768" cy="1828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000000"/>
                </a:solidFill>
                <a:latin typeface="Futura"/>
                <a:ea typeface="Futura"/>
                <a:cs typeface="Futura"/>
              </a:rPr>
              <a:t>MATCH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84264" y="3977640"/>
            <a:ext cx="786384" cy="18288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4F8FF"/>
                </a:solidFill>
                <a:latin typeface="Futura"/>
                <a:ea typeface="Futura"/>
                <a:cs typeface="Futura"/>
              </a:rPr>
              <a:t>Pegasus 41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84264" y="4151376"/>
            <a:ext cx="786384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7FDFFF"/>
                </a:solidFill>
                <a:latin typeface="Futura"/>
                <a:ea typeface="Futura"/>
                <a:cs typeface="Futura"/>
              </a:rPr>
              <a:t>€139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662671" y="3383280"/>
            <a:ext cx="932688" cy="960120"/>
          </a:xfrm>
          <a:prstGeom prst="roundRect">
            <a:avLst>
              <a:gd name="adj" fmla="val 10000"/>
            </a:avLst>
          </a:prstGeom>
          <a:solidFill>
            <a:srgbClr val="0E1620"/>
          </a:solidFill>
          <a:ln w="12700">
            <a:solidFill>
              <a:srgbClr val="253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744967" y="3465576"/>
            <a:ext cx="768096" cy="475488"/>
          </a:xfrm>
          <a:prstGeom prst="roundRect">
            <a:avLst>
              <a:gd name="adj" fmla="val 10000"/>
            </a:avLst>
          </a:prstGeom>
          <a:solidFill>
            <a:srgbClr val="0C11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44967" y="3977640"/>
            <a:ext cx="786384" cy="18288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4F8FF"/>
                </a:solidFill>
                <a:latin typeface="Futura"/>
                <a:ea typeface="Futura"/>
                <a:cs typeface="Futura"/>
              </a:rPr>
              <a:t>Pegasus 41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44967" y="4151376"/>
            <a:ext cx="786384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7FDFFF"/>
                </a:solidFill>
                <a:latin typeface="Futura"/>
                <a:ea typeface="Futura"/>
                <a:cs typeface="Futura"/>
              </a:rPr>
              <a:t>€139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601968" y="4462272"/>
            <a:ext cx="932688" cy="960120"/>
          </a:xfrm>
          <a:prstGeom prst="roundRect">
            <a:avLst>
              <a:gd name="adj" fmla="val 10000"/>
            </a:avLst>
          </a:prstGeom>
          <a:solidFill>
            <a:srgbClr val="0E1620"/>
          </a:solidFill>
          <a:ln w="12700">
            <a:solidFill>
              <a:srgbClr val="253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684264" y="4544568"/>
            <a:ext cx="768096" cy="475488"/>
          </a:xfrm>
          <a:prstGeom prst="roundRect">
            <a:avLst>
              <a:gd name="adj" fmla="val 10000"/>
            </a:avLst>
          </a:prstGeom>
          <a:solidFill>
            <a:srgbClr val="0C11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84264" y="5056632"/>
            <a:ext cx="786384" cy="18288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4F8FF"/>
                </a:solidFill>
                <a:latin typeface="Futura"/>
                <a:ea typeface="Futura"/>
                <a:cs typeface="Futura"/>
              </a:rPr>
              <a:t>Pegasus 41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84264" y="5230368"/>
            <a:ext cx="786384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7FDFFF"/>
                </a:solidFill>
                <a:latin typeface="Futura"/>
                <a:ea typeface="Futura"/>
                <a:cs typeface="Futura"/>
              </a:rPr>
              <a:t>€139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662671" y="4462272"/>
            <a:ext cx="932688" cy="960120"/>
          </a:xfrm>
          <a:prstGeom prst="roundRect">
            <a:avLst>
              <a:gd name="adj" fmla="val 10000"/>
            </a:avLst>
          </a:prstGeom>
          <a:solidFill>
            <a:srgbClr val="0E1620"/>
          </a:solidFill>
          <a:ln w="12700">
            <a:solidFill>
              <a:srgbClr val="253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7744967" y="4544568"/>
            <a:ext cx="768096" cy="475488"/>
          </a:xfrm>
          <a:prstGeom prst="roundRect">
            <a:avLst>
              <a:gd name="adj" fmla="val 10000"/>
            </a:avLst>
          </a:prstGeom>
          <a:solidFill>
            <a:srgbClr val="0C11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44967" y="5056632"/>
            <a:ext cx="786384" cy="18288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4F8FF"/>
                </a:solidFill>
                <a:latin typeface="Futura"/>
                <a:ea typeface="Futura"/>
                <a:cs typeface="Futura"/>
              </a:rPr>
              <a:t>Pegasus 41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44967" y="5230368"/>
            <a:ext cx="786384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7FDFFF"/>
                </a:solidFill>
                <a:latin typeface="Futura"/>
                <a:ea typeface="Futura"/>
                <a:cs typeface="Futura"/>
              </a:rPr>
              <a:t>€139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601968" y="5559552"/>
            <a:ext cx="1993392" cy="402336"/>
          </a:xfrm>
          <a:prstGeom prst="roundRect">
            <a:avLst>
              <a:gd name="adj" fmla="val 25000"/>
            </a:avLst>
          </a:prstGeom>
          <a:solidFill>
            <a:srgbClr val="F4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01968" y="5559552"/>
            <a:ext cx="1993392" cy="4023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00000"/>
                </a:solidFill>
                <a:latin typeface="Futura"/>
                <a:ea typeface="Futura"/>
                <a:cs typeface="Futura"/>
              </a:rPr>
              <a:t>Conferma selezione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0" y="6144768"/>
            <a:ext cx="239572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7FDFFF"/>
                </a:solidFill>
                <a:latin typeface="Futura"/>
                <a:ea typeface="Futura"/>
                <a:cs typeface="Futura"/>
              </a:rPr>
              <a:t>Style Engine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180576" y="2194560"/>
            <a:ext cx="2395728" cy="3840480"/>
          </a:xfrm>
          <a:prstGeom prst="roundRect">
            <a:avLst>
              <a:gd name="adj" fmla="val 6000"/>
            </a:avLst>
          </a:prstGeom>
          <a:solidFill>
            <a:srgbClr val="000000"/>
          </a:solidFill>
          <a:ln w="25400">
            <a:solidFill>
              <a:srgbClr val="1F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381744" y="2450591"/>
            <a:ext cx="1993392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4F8FF"/>
                </a:solidFill>
                <a:latin typeface="Futura"/>
                <a:ea typeface="Futura"/>
                <a:cs typeface="Futura"/>
              </a:rPr>
              <a:t>Dove ritirarlo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381744" y="2926080"/>
            <a:ext cx="1993392" cy="512064"/>
          </a:xfrm>
          <a:prstGeom prst="roundRect">
            <a:avLst>
              <a:gd name="adj" fmla="val 12000"/>
            </a:avLst>
          </a:prstGeom>
          <a:solidFill>
            <a:srgbClr val="0E1620"/>
          </a:solidFill>
          <a:ln w="12700">
            <a:solidFill>
              <a:srgbClr val="253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491472" y="2926080"/>
            <a:ext cx="411480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7D93A8"/>
                </a:solidFill>
                <a:latin typeface="Futura"/>
                <a:ea typeface="Futura"/>
                <a:cs typeface="Futura"/>
              </a:rPr>
              <a:t>P1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912096" y="2926080"/>
            <a:ext cx="1389888" cy="51206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4F8FF"/>
                </a:solidFill>
                <a:latin typeface="Futura"/>
                <a:ea typeface="Futura"/>
                <a:cs typeface="Futura"/>
              </a:rPr>
              <a:t>Footwear · Running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381744" y="3547872"/>
            <a:ext cx="1993392" cy="512064"/>
          </a:xfrm>
          <a:prstGeom prst="roundRect">
            <a:avLst>
              <a:gd name="adj" fmla="val 12000"/>
            </a:avLst>
          </a:prstGeom>
          <a:solidFill>
            <a:srgbClr val="0E1620"/>
          </a:solidFill>
          <a:ln w="22860">
            <a:solidFill>
              <a:srgbClr val="D4F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491472" y="3547872"/>
            <a:ext cx="411480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D4FF37"/>
                </a:solidFill>
                <a:latin typeface="Futura"/>
                <a:ea typeface="Futura"/>
                <a:cs typeface="Futura"/>
              </a:rPr>
              <a:t>P2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912096" y="3547872"/>
            <a:ext cx="1389888" cy="51206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4F8FF"/>
                </a:solidFill>
                <a:latin typeface="Futura"/>
                <a:ea typeface="Futura"/>
                <a:cs typeface="Futura"/>
              </a:rPr>
              <a:t>Training · Apparel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381744" y="4169664"/>
            <a:ext cx="1993392" cy="512064"/>
          </a:xfrm>
          <a:prstGeom prst="roundRect">
            <a:avLst>
              <a:gd name="adj" fmla="val 12000"/>
            </a:avLst>
          </a:prstGeom>
          <a:solidFill>
            <a:srgbClr val="0E1620"/>
          </a:solidFill>
          <a:ln w="12700">
            <a:solidFill>
              <a:srgbClr val="253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491472" y="4169664"/>
            <a:ext cx="411480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7D93A8"/>
                </a:solidFill>
                <a:latin typeface="Futura"/>
                <a:ea typeface="Futura"/>
                <a:cs typeface="Futura"/>
              </a:rPr>
              <a:t>P3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912096" y="4169664"/>
            <a:ext cx="1389888" cy="51206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4F8FF"/>
                </a:solidFill>
                <a:latin typeface="Futura"/>
                <a:ea typeface="Futura"/>
                <a:cs typeface="Futura"/>
              </a:rPr>
              <a:t>Tech · Outerwear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381744" y="4983479"/>
            <a:ext cx="1993392" cy="749808"/>
          </a:xfrm>
          <a:prstGeom prst="roundRect">
            <a:avLst>
              <a:gd name="adj" fmla="val 10000"/>
            </a:avLst>
          </a:prstGeom>
          <a:solidFill>
            <a:srgbClr val="121C28"/>
          </a:solidFill>
          <a:ln w="12700">
            <a:solidFill>
              <a:srgbClr val="253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518904" y="5084064"/>
            <a:ext cx="171907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 i="0" spc="100">
                <a:solidFill>
                  <a:srgbClr val="7D93A8"/>
                </a:solidFill>
                <a:latin typeface="Futura"/>
                <a:ea typeface="Futura"/>
                <a:cs typeface="Futura"/>
              </a:rPr>
              <a:t>PICKUP ID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518904" y="5303520"/>
            <a:ext cx="1719072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100" b="1" i="0" spc="200">
                <a:solidFill>
                  <a:srgbClr val="D4FF37"/>
                </a:solidFill>
                <a:latin typeface="Futura"/>
                <a:ea typeface="Futura"/>
                <a:cs typeface="Futura"/>
              </a:rPr>
              <a:t>NK-4827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180576" y="6144768"/>
            <a:ext cx="239572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7FDFFF"/>
                </a:solidFill>
                <a:latin typeface="Futura"/>
                <a:ea typeface="Futura"/>
                <a:cs typeface="Futura"/>
              </a:rPr>
              <a:t>Wayfinding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 spc="200">
                <a:solidFill>
                  <a:srgbClr val="7FDFFF"/>
                </a:solidFill>
                <a:latin typeface="Futura"/>
                <a:ea typeface="Futura"/>
                <a:cs typeface="Futura"/>
              </a:rPr>
              <a:t>ATLAS</a:t>
            </a:r>
            <a:r>
              <a:rPr sz="1000" b="0" i="0" spc="100">
                <a:solidFill>
                  <a:srgbClr val="7D93A8"/>
                </a:solidFill>
                <a:latin typeface="Futura"/>
                <a:ea typeface="Futura"/>
                <a:cs typeface="Futura"/>
              </a:rPr>
              <a:t>  ·  UI definitiva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789920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7D93A8"/>
                </a:solidFill>
                <a:latin typeface="Futura"/>
                <a:ea typeface="Futura"/>
                <a:cs typeface="Futura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g_gam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008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 spc="320">
                <a:solidFill>
                  <a:srgbClr val="F4C300"/>
                </a:solidFill>
                <a:latin typeface="Futura"/>
                <a:ea typeface="Futura"/>
                <a:cs typeface="Futura"/>
              </a:rPr>
              <a:t>09 · GAMIFICATION</a:t>
            </a:r>
          </a:p>
        </p:txBody>
      </p:sp>
      <p:pic>
        <p:nvPicPr>
          <p:cNvPr id="5" name="Picture 4" descr="r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548640"/>
            <a:ext cx="1920240" cy="10561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960120"/>
            <a:ext cx="914400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5000" b="1" i="0">
                <a:solidFill>
                  <a:srgbClr val="F4F8FF"/>
                </a:solidFill>
                <a:latin typeface="Futura"/>
                <a:ea typeface="Futura"/>
                <a:cs typeface="Futura"/>
              </a:rPr>
              <a:t>GIOCA. </a:t>
            </a:r>
            <a:r>
              <a:rPr sz="5000" b="1" i="0">
                <a:solidFill>
                  <a:srgbClr val="E60012"/>
                </a:solidFill>
                <a:latin typeface="Futura"/>
                <a:ea typeface="Futura"/>
                <a:cs typeface="Futura"/>
              </a:rPr>
              <a:t>VINCI. </a:t>
            </a:r>
            <a:r>
              <a:rPr sz="5000" b="1" i="0">
                <a:solidFill>
                  <a:srgbClr val="F4F8FF"/>
                </a:solidFill>
                <a:latin typeface="Futura"/>
                <a:ea typeface="Futura"/>
                <a:cs typeface="Futura"/>
              </a:rPr>
              <a:t>VESTI.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F4C300"/>
                </a:solidFill>
                <a:latin typeface="Futura"/>
                <a:ea typeface="Futura"/>
                <a:cs typeface="Futura"/>
              </a:rPr>
              <a:t>Olympic Arena — Nintendo × Olympic Games × Nike. </a:t>
            </a:r>
            <a:r>
              <a:rPr sz="1400" b="0" i="0">
                <a:solidFill>
                  <a:srgbClr val="F4F8FF"/>
                </a:solidFill>
                <a:latin typeface="Futura"/>
                <a:ea typeface="Futura"/>
                <a:cs typeface="Futura"/>
              </a:rPr>
              <a:t>L'attesa diventa competizione: accumula punti, scala la classifica, converti in sconto.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743200"/>
            <a:ext cx="2542032" cy="1417320"/>
          </a:xfrm>
          <a:prstGeom prst="roundRect">
            <a:avLst>
              <a:gd name="adj" fmla="val 7000"/>
            </a:avLst>
          </a:prstGeom>
          <a:solidFill>
            <a:srgbClr val="0C0A16"/>
          </a:solidFill>
          <a:ln w="12700">
            <a:solidFill>
              <a:srgbClr val="253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907792"/>
            <a:ext cx="2084831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0085C7"/>
                </a:solidFill>
                <a:latin typeface="Futura"/>
                <a:ea typeface="Futura"/>
                <a:cs typeface="Futura"/>
              </a:rPr>
              <a:t>31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30752"/>
            <a:ext cx="2084831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7D93A8"/>
                </a:solidFill>
                <a:latin typeface="Futura"/>
                <a:ea typeface="Futura"/>
                <a:cs typeface="Futura"/>
              </a:rPr>
              <a:t>sport giocabili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2743200"/>
            <a:ext cx="2542032" cy="1417320"/>
          </a:xfrm>
          <a:prstGeom prst="roundRect">
            <a:avLst>
              <a:gd name="adj" fmla="val 7000"/>
            </a:avLst>
          </a:prstGeom>
          <a:solidFill>
            <a:srgbClr val="0C0A16"/>
          </a:solidFill>
          <a:ln w="12700">
            <a:solidFill>
              <a:srgbClr val="253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85032" y="2907792"/>
            <a:ext cx="2084831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009F3D"/>
                </a:solidFill>
                <a:latin typeface="Futura"/>
                <a:ea typeface="Futura"/>
                <a:cs typeface="Futura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3730752"/>
            <a:ext cx="2084831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7D93A8"/>
                </a:solidFill>
                <a:latin typeface="Futura"/>
                <a:ea typeface="Futura"/>
                <a:cs typeface="Futura"/>
              </a:rPr>
              <a:t>categorie olimpiche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743200"/>
            <a:ext cx="2542032" cy="1417320"/>
          </a:xfrm>
          <a:prstGeom prst="roundRect">
            <a:avLst>
              <a:gd name="adj" fmla="val 7000"/>
            </a:avLst>
          </a:prstGeom>
          <a:solidFill>
            <a:srgbClr val="0C0A16"/>
          </a:solidFill>
          <a:ln w="12700">
            <a:solidFill>
              <a:srgbClr val="253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2907792"/>
            <a:ext cx="2084831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F4C300"/>
                </a:solidFill>
                <a:latin typeface="Futura"/>
                <a:ea typeface="Futura"/>
                <a:cs typeface="Futura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730752"/>
            <a:ext cx="2084831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7D93A8"/>
                </a:solidFill>
                <a:latin typeface="Futura"/>
                <a:ea typeface="Futura"/>
                <a:cs typeface="Futura"/>
              </a:rPr>
              <a:t>engine di gioco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6839" y="2743200"/>
            <a:ext cx="2542032" cy="1417320"/>
          </a:xfrm>
          <a:prstGeom prst="roundRect">
            <a:avLst>
              <a:gd name="adj" fmla="val 7000"/>
            </a:avLst>
          </a:prstGeom>
          <a:solidFill>
            <a:srgbClr val="0C0A16"/>
          </a:solidFill>
          <a:ln w="12700">
            <a:solidFill>
              <a:srgbClr val="253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62871" y="2907792"/>
            <a:ext cx="2084831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E60012"/>
                </a:solidFill>
                <a:latin typeface="Futura"/>
                <a:ea typeface="Futura"/>
                <a:cs typeface="Futur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59" y="3730752"/>
            <a:ext cx="2084831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7D93A8"/>
                </a:solidFill>
                <a:latin typeface="Futura"/>
                <a:ea typeface="Futura"/>
                <a:cs typeface="Futura"/>
              </a:rPr>
              <a:t>player · Wiimote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34340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 spc="100">
                <a:solidFill>
                  <a:srgbClr val="F4C300"/>
                </a:solidFill>
                <a:latin typeface="Futura"/>
                <a:ea typeface="Futura"/>
                <a:cs typeface="Futura"/>
              </a:rPr>
              <a:t>ENGINE: </a:t>
            </a:r>
            <a:r>
              <a:rPr sz="1300" b="1" i="0">
                <a:solidFill>
                  <a:srgbClr val="F4F8FF"/>
                </a:solidFill>
                <a:latin typeface="Futura"/>
                <a:ea typeface="Futura"/>
                <a:cs typeface="Futura"/>
              </a:rPr>
              <a:t>Tempismo · Mira · Ritmo · Velocità · Equilibrio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800600"/>
            <a:ext cx="10908792" cy="1371600"/>
          </a:xfrm>
          <a:prstGeom prst="roundRect">
            <a:avLst>
              <a:gd name="adj" fmla="val 5000"/>
            </a:avLst>
          </a:prstGeom>
          <a:solidFill>
            <a:srgbClr val="140C06"/>
          </a:solidFill>
          <a:ln w="17780">
            <a:solidFill>
              <a:srgbClr val="F4C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00176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 spc="200">
                <a:solidFill>
                  <a:srgbClr val="F4C300"/>
                </a:solidFill>
                <a:latin typeface="Futura"/>
                <a:ea typeface="Futura"/>
                <a:cs typeface="Futura"/>
              </a:rPr>
              <a:t>REWARD LOOP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085C7"/>
                </a:solidFill>
                <a:latin typeface="Futura"/>
                <a:ea typeface="Futura"/>
                <a:cs typeface="Futura"/>
              </a:rPr>
              <a:t>Gioca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96712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F4F8FF"/>
                </a:solidFill>
                <a:latin typeface="Futura"/>
                <a:ea typeface="Futura"/>
                <a:cs typeface="Futura"/>
              </a:rPr>
              <a:t>accumula punti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5303520"/>
            <a:ext cx="27432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7D93A8"/>
                </a:solidFill>
                <a:latin typeface="Futura"/>
                <a:ea typeface="Futura"/>
                <a:cs typeface="Futura"/>
              </a:rPr>
              <a:t>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11880" y="5349240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09F3D"/>
                </a:solidFill>
                <a:latin typeface="Futura"/>
                <a:ea typeface="Futura"/>
                <a:cs typeface="Futura"/>
              </a:rPr>
              <a:t>Classifica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11880" y="5696712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F4F8FF"/>
                </a:solidFill>
                <a:latin typeface="Futura"/>
                <a:ea typeface="Futura"/>
                <a:cs typeface="Futura"/>
              </a:rPr>
              <a:t>scala le posizioni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89320" y="5303520"/>
            <a:ext cx="27432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7D93A8"/>
                </a:solidFill>
                <a:latin typeface="Futura"/>
                <a:ea typeface="Futura"/>
                <a:cs typeface="Futura"/>
              </a:rPr>
              <a:t>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5349240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4C300"/>
                </a:solidFill>
                <a:latin typeface="Futura"/>
                <a:ea typeface="Futura"/>
                <a:cs typeface="Futura"/>
              </a:rPr>
              <a:t>Sconto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5696712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F4F8FF"/>
                </a:solidFill>
                <a:latin typeface="Futura"/>
                <a:ea typeface="Futura"/>
                <a:cs typeface="Futura"/>
              </a:rPr>
              <a:t>fino al 25% in cassa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5303520"/>
            <a:ext cx="27432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7D93A8"/>
                </a:solidFill>
                <a:latin typeface="Futura"/>
                <a:ea typeface="Futura"/>
                <a:cs typeface="Futura"/>
              </a:rPr>
              <a:t>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06840" y="5349240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60012"/>
                </a:solidFill>
                <a:latin typeface="Futura"/>
                <a:ea typeface="Futura"/>
                <a:cs typeface="Futura"/>
              </a:rPr>
              <a:t>Capsule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06840" y="5696712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F4F8FF"/>
                </a:solidFill>
                <a:latin typeface="Futura"/>
                <a:ea typeface="Futura"/>
                <a:cs typeface="Futura"/>
              </a:rPr>
              <a:t>top 150 → Nike × Nintendo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 spc="200">
                <a:solidFill>
                  <a:srgbClr val="7FDFFF"/>
                </a:solidFill>
                <a:latin typeface="Futura"/>
                <a:ea typeface="Futura"/>
                <a:cs typeface="Futura"/>
              </a:rPr>
              <a:t>ATLAS</a:t>
            </a:r>
            <a:r>
              <a:rPr sz="1000" b="0" i="0" spc="100">
                <a:solidFill>
                  <a:srgbClr val="7D93A8"/>
                </a:solidFill>
                <a:latin typeface="Futura"/>
                <a:ea typeface="Futura"/>
                <a:cs typeface="Futura"/>
              </a:rPr>
              <a:t>  ·  Olympic Arena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89920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7D93A8"/>
                </a:solidFill>
                <a:latin typeface="Futura"/>
                <a:ea typeface="Futura"/>
                <a:cs typeface="Futura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g_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008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 spc="320">
                <a:solidFill>
                  <a:srgbClr val="7FDFFF"/>
                </a:solidFill>
                <a:latin typeface="Futura"/>
                <a:ea typeface="Futura"/>
                <a:cs typeface="Futura"/>
              </a:rPr>
              <a:t>10 · LEVE COMUNICATIVE &amp; BRANDING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4F8FF"/>
                </a:solidFill>
                <a:latin typeface="Futura"/>
                <a:ea typeface="Futura"/>
                <a:cs typeface="Futura"/>
              </a:rPr>
              <a:t>Perché funziona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3456432" cy="1691640"/>
          </a:xfrm>
          <a:prstGeom prst="roundRect">
            <a:avLst>
              <a:gd name="adj" fmla="val 6000"/>
            </a:avLst>
          </a:prstGeom>
          <a:solidFill>
            <a:srgbClr val="0E1620"/>
          </a:solidFill>
          <a:ln w="12700">
            <a:solidFill>
              <a:srgbClr val="253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441448"/>
            <a:ext cx="310896" cy="310896"/>
          </a:xfrm>
          <a:prstGeom prst="ellipse">
            <a:avLst/>
          </a:prstGeom>
          <a:solidFill>
            <a:srgbClr val="7FD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386584"/>
            <a:ext cx="2542032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4F8FF"/>
                </a:solidFill>
                <a:latin typeface="Futura"/>
                <a:ea typeface="Futura"/>
                <a:cs typeface="Futura"/>
              </a:rPr>
              <a:t>Engagement attivo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926080"/>
            <a:ext cx="2907791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7D93A8"/>
                </a:solidFill>
                <a:latin typeface="Futura"/>
                <a:ea typeface="Futura"/>
                <a:cs typeface="Futura"/>
              </a:rPr>
              <a:t>Il cliente non guarda: agisce, parla, gioca. L'interazione crea memoria.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2148840"/>
            <a:ext cx="3456432" cy="1691640"/>
          </a:xfrm>
          <a:prstGeom prst="roundRect">
            <a:avLst>
              <a:gd name="adj" fmla="val 6000"/>
            </a:avLst>
          </a:prstGeom>
          <a:solidFill>
            <a:srgbClr val="0E1620"/>
          </a:solidFill>
          <a:ln w="12700">
            <a:solidFill>
              <a:srgbClr val="253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681728" y="2441448"/>
            <a:ext cx="310896" cy="310896"/>
          </a:xfrm>
          <a:prstGeom prst="ellipse">
            <a:avLst/>
          </a:prstGeom>
          <a:solidFill>
            <a:srgbClr val="D4F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38928" y="2386584"/>
            <a:ext cx="2542032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4F8FF"/>
                </a:solidFill>
                <a:latin typeface="Futura"/>
                <a:ea typeface="Futura"/>
                <a:cs typeface="Futura"/>
              </a:rPr>
              <a:t>Reward loop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0016" y="2926080"/>
            <a:ext cx="2907791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7D93A8"/>
                </a:solidFill>
                <a:latin typeface="Futura"/>
                <a:ea typeface="Futura"/>
                <a:cs typeface="Futura"/>
              </a:rPr>
              <a:t>Punti → sconto → premio: una spinta concreta all'acquisto immediato.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74736" y="2148840"/>
            <a:ext cx="3456432" cy="1691640"/>
          </a:xfrm>
          <a:prstGeom prst="roundRect">
            <a:avLst>
              <a:gd name="adj" fmla="val 6000"/>
            </a:avLst>
          </a:prstGeom>
          <a:solidFill>
            <a:srgbClr val="0E1620"/>
          </a:solidFill>
          <a:ln w="12700">
            <a:solidFill>
              <a:srgbClr val="253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49056" y="2441448"/>
            <a:ext cx="310896" cy="310896"/>
          </a:xfrm>
          <a:prstGeom prst="ellipse">
            <a:avLst/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06256" y="2386584"/>
            <a:ext cx="2542032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4F8FF"/>
                </a:solidFill>
                <a:latin typeface="Futura"/>
                <a:ea typeface="Futura"/>
                <a:cs typeface="Futura"/>
              </a:rPr>
              <a:t>Co-branding forte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7344" y="2926080"/>
            <a:ext cx="2907791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7D93A8"/>
                </a:solidFill>
                <a:latin typeface="Futura"/>
                <a:ea typeface="Futura"/>
                <a:cs typeface="Futura"/>
              </a:rPr>
              <a:t>Nike × Nintendo × Olympics: tre mondi iconici in un'unica esperienza.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114800"/>
            <a:ext cx="3456432" cy="1691640"/>
          </a:xfrm>
          <a:prstGeom prst="roundRect">
            <a:avLst>
              <a:gd name="adj" fmla="val 6000"/>
            </a:avLst>
          </a:prstGeom>
          <a:solidFill>
            <a:srgbClr val="0E1620"/>
          </a:solidFill>
          <a:ln w="12700">
            <a:solidFill>
              <a:srgbClr val="253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4407408"/>
            <a:ext cx="310896" cy="310896"/>
          </a:xfrm>
          <a:prstGeom prst="ellipse">
            <a:avLst/>
          </a:prstGeom>
          <a:solidFill>
            <a:srgbClr val="0085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0" y="4352544"/>
            <a:ext cx="2542032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4F8FF"/>
                </a:solidFill>
                <a:latin typeface="Futura"/>
                <a:ea typeface="Futura"/>
                <a:cs typeface="Futura"/>
              </a:rPr>
              <a:t>Condivisibile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892040"/>
            <a:ext cx="2907791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7D93A8"/>
                </a:solidFill>
                <a:latin typeface="Futura"/>
                <a:ea typeface="Futura"/>
                <a:cs typeface="Futura"/>
              </a:rPr>
              <a:t>Estetica social-ready: il cliente diventa ambassador del brand.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07408" y="4114800"/>
            <a:ext cx="3456432" cy="1691640"/>
          </a:xfrm>
          <a:prstGeom prst="roundRect">
            <a:avLst>
              <a:gd name="adj" fmla="val 6000"/>
            </a:avLst>
          </a:prstGeom>
          <a:solidFill>
            <a:srgbClr val="0E1620"/>
          </a:solidFill>
          <a:ln w="12700">
            <a:solidFill>
              <a:srgbClr val="253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681728" y="4407408"/>
            <a:ext cx="310896" cy="310896"/>
          </a:xfrm>
          <a:prstGeom prst="ellipse">
            <a:avLst/>
          </a:prstGeom>
          <a:solidFill>
            <a:srgbClr val="009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38928" y="4352544"/>
            <a:ext cx="2542032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4F8FF"/>
                </a:solidFill>
                <a:latin typeface="Futura"/>
                <a:ea typeface="Futura"/>
                <a:cs typeface="Futura"/>
              </a:rPr>
              <a:t>Data-driven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0016" y="4892040"/>
            <a:ext cx="2907791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7D93A8"/>
                </a:solidFill>
                <a:latin typeface="Futura"/>
                <a:ea typeface="Futura"/>
                <a:cs typeface="Futura"/>
              </a:rPr>
              <a:t>Scan e scelte alimentano CRM, stock e personalizzazione futura.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74736" y="4114800"/>
            <a:ext cx="3456432" cy="1691640"/>
          </a:xfrm>
          <a:prstGeom prst="roundRect">
            <a:avLst>
              <a:gd name="adj" fmla="val 6000"/>
            </a:avLst>
          </a:prstGeom>
          <a:solidFill>
            <a:srgbClr val="0E1620"/>
          </a:solidFill>
          <a:ln w="12700">
            <a:solidFill>
              <a:srgbClr val="253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49056" y="4407408"/>
            <a:ext cx="310896" cy="310896"/>
          </a:xfrm>
          <a:prstGeom prst="ellipse">
            <a:avLst/>
          </a:prstGeom>
          <a:solidFill>
            <a:srgbClr val="F4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06256" y="4352544"/>
            <a:ext cx="2542032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4F8FF"/>
                </a:solidFill>
                <a:latin typeface="Futura"/>
                <a:ea typeface="Futura"/>
                <a:cs typeface="Futura"/>
              </a:rPr>
              <a:t>Spendibile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67344" y="4892040"/>
            <a:ext cx="2907791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7D93A8"/>
                </a:solidFill>
                <a:latin typeface="Futura"/>
                <a:ea typeface="Futura"/>
                <a:cs typeface="Futura"/>
              </a:rPr>
              <a:t>Concept reale, pilotabile in un flagship store da subito.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 spc="200">
                <a:solidFill>
                  <a:srgbClr val="7FDFFF"/>
                </a:solidFill>
                <a:latin typeface="Futura"/>
                <a:ea typeface="Futura"/>
                <a:cs typeface="Futura"/>
              </a:rPr>
              <a:t>ATLAS</a:t>
            </a:r>
            <a:r>
              <a:rPr sz="1000" b="0" i="0" spc="100">
                <a:solidFill>
                  <a:srgbClr val="7D93A8"/>
                </a:solidFill>
                <a:latin typeface="Futura"/>
                <a:ea typeface="Futura"/>
                <a:cs typeface="Futura"/>
              </a:rPr>
              <a:t>  ·  Perché funziona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7D93A8"/>
                </a:solidFill>
                <a:latin typeface="Futura"/>
                <a:ea typeface="Futura"/>
                <a:cs typeface="Futura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g_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008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 spc="320">
                <a:solidFill>
                  <a:srgbClr val="7FDFFF"/>
                </a:solidFill>
                <a:latin typeface="Futura"/>
                <a:ea typeface="Futura"/>
                <a:cs typeface="Futura"/>
              </a:rPr>
              <a:t>11 · RISULTATI ATTESI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F4F8FF"/>
                </a:solidFill>
                <a:latin typeface="Futura"/>
                <a:ea typeface="Futura"/>
                <a:cs typeface="Futura"/>
              </a:rPr>
              <a:t>Obiettivi misurabili (KPI)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7D93A8"/>
                </a:solidFill>
                <a:latin typeface="Futura"/>
                <a:ea typeface="Futura"/>
                <a:cs typeface="Futura"/>
              </a:rPr>
              <a:t>Target di progetto da validare nel pilot — non dati storici.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77440"/>
            <a:ext cx="2615184" cy="2834640"/>
          </a:xfrm>
          <a:prstGeom prst="roundRect">
            <a:avLst>
              <a:gd name="adj" fmla="val 5000"/>
            </a:avLst>
          </a:prstGeom>
          <a:solidFill>
            <a:srgbClr val="0E1620"/>
          </a:solidFill>
          <a:ln w="12700">
            <a:solidFill>
              <a:srgbClr val="253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944368"/>
            <a:ext cx="2395728" cy="914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5000" b="1" i="0">
                <a:solidFill>
                  <a:srgbClr val="7FDFFF"/>
                </a:solidFill>
                <a:latin typeface="Futura"/>
                <a:ea typeface="Futura"/>
                <a:cs typeface="Futura"/>
              </a:rPr>
              <a:t>+30%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99031" y="4133087"/>
            <a:ext cx="1097280" cy="36576"/>
          </a:xfrm>
          <a:prstGeom prst="roundRect">
            <a:avLst>
              <a:gd name="adj" fmla="val 50000"/>
            </a:avLst>
          </a:prstGeom>
          <a:solidFill>
            <a:srgbClr val="7FD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370832"/>
            <a:ext cx="2157984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350" b="0" i="0">
                <a:solidFill>
                  <a:srgbClr val="F4F8FF"/>
                </a:solidFill>
                <a:latin typeface="Futura"/>
                <a:ea typeface="Futura"/>
                <a:cs typeface="Futura"/>
              </a:rPr>
              <a:t>Tempo di permanenza
in negozio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6432" y="2377440"/>
            <a:ext cx="2615184" cy="2834640"/>
          </a:xfrm>
          <a:prstGeom prst="roundRect">
            <a:avLst>
              <a:gd name="adj" fmla="val 5000"/>
            </a:avLst>
          </a:prstGeom>
          <a:solidFill>
            <a:srgbClr val="0E1620"/>
          </a:solidFill>
          <a:ln w="12700">
            <a:solidFill>
              <a:srgbClr val="253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2944368"/>
            <a:ext cx="2395728" cy="914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5000" b="1" i="0">
                <a:solidFill>
                  <a:srgbClr val="D4FF37"/>
                </a:solidFill>
                <a:latin typeface="Futura"/>
                <a:ea typeface="Futura"/>
                <a:cs typeface="Futura"/>
              </a:rPr>
              <a:t>+15%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15384" y="4133087"/>
            <a:ext cx="1097280" cy="36576"/>
          </a:xfrm>
          <a:prstGeom prst="roundRect">
            <a:avLst>
              <a:gd name="adj" fmla="val 50000"/>
            </a:avLst>
          </a:prstGeom>
          <a:solidFill>
            <a:srgbClr val="D4F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85032" y="4370832"/>
            <a:ext cx="2157984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350" b="0" i="0">
                <a:solidFill>
                  <a:srgbClr val="F4F8FF"/>
                </a:solidFill>
                <a:latin typeface="Futura"/>
                <a:ea typeface="Futura"/>
                <a:cs typeface="Futura"/>
              </a:rPr>
              <a:t>Tasso di conversione
in acquisto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2784" y="2377440"/>
            <a:ext cx="2615184" cy="2834640"/>
          </a:xfrm>
          <a:prstGeom prst="roundRect">
            <a:avLst>
              <a:gd name="adj" fmla="val 5000"/>
            </a:avLst>
          </a:prstGeom>
          <a:solidFill>
            <a:srgbClr val="0E1620"/>
          </a:solidFill>
          <a:ln w="12700">
            <a:solidFill>
              <a:srgbClr val="253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2944368"/>
            <a:ext cx="2395728" cy="914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5000" b="1" i="0">
                <a:solidFill>
                  <a:srgbClr val="F4C300"/>
                </a:solidFill>
                <a:latin typeface="Futura"/>
                <a:ea typeface="Futura"/>
                <a:cs typeface="Futura"/>
              </a:rPr>
              <a:t>25%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31736" y="4133087"/>
            <a:ext cx="1097280" cy="36576"/>
          </a:xfrm>
          <a:prstGeom prst="roundRect">
            <a:avLst>
              <a:gd name="adj" fmla="val 50000"/>
            </a:avLst>
          </a:prstGeom>
          <a:solidFill>
            <a:srgbClr val="F4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01384" y="4370832"/>
            <a:ext cx="2157984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350" b="0" i="0">
                <a:solidFill>
                  <a:srgbClr val="F4F8FF"/>
                </a:solidFill>
                <a:latin typeface="Futura"/>
                <a:ea typeface="Futura"/>
                <a:cs typeface="Futura"/>
              </a:rPr>
              <a:t>Sconto massimo
sbloccabile col gioco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89136" y="2377440"/>
            <a:ext cx="2615184" cy="2834640"/>
          </a:xfrm>
          <a:prstGeom prst="roundRect">
            <a:avLst>
              <a:gd name="adj" fmla="val 5000"/>
            </a:avLst>
          </a:prstGeom>
          <a:solidFill>
            <a:srgbClr val="0E1620"/>
          </a:solidFill>
          <a:ln w="12700">
            <a:solidFill>
              <a:srgbClr val="253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98863" y="2944368"/>
            <a:ext cx="2395728" cy="914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5000" b="1" i="0">
                <a:solidFill>
                  <a:srgbClr val="E60012"/>
                </a:solidFill>
                <a:latin typeface="Futura"/>
                <a:ea typeface="Futura"/>
                <a:cs typeface="Futura"/>
              </a:rPr>
              <a:t>150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48088" y="4133087"/>
            <a:ext cx="1097280" cy="36576"/>
          </a:xfrm>
          <a:prstGeom prst="roundRect">
            <a:avLst>
              <a:gd name="adj" fmla="val 50000"/>
            </a:avLst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17736" y="4370832"/>
            <a:ext cx="2157984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350" b="0" i="0">
                <a:solidFill>
                  <a:srgbClr val="F4F8FF"/>
                </a:solidFill>
                <a:latin typeface="Futura"/>
                <a:ea typeface="Futura"/>
                <a:cs typeface="Futura"/>
              </a:rPr>
              <a:t>Capsule esclusive
al giorno (top player)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 spc="200">
                <a:solidFill>
                  <a:srgbClr val="7FDFFF"/>
                </a:solidFill>
                <a:latin typeface="Futura"/>
                <a:ea typeface="Futura"/>
                <a:cs typeface="Futura"/>
              </a:rPr>
              <a:t>ATLAS</a:t>
            </a:r>
            <a:r>
              <a:rPr sz="1000" b="0" i="0" spc="100">
                <a:solidFill>
                  <a:srgbClr val="7D93A8"/>
                </a:solidFill>
                <a:latin typeface="Futura"/>
                <a:ea typeface="Futura"/>
                <a:cs typeface="Futura"/>
              </a:rPr>
              <a:t>  ·  KPI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7D93A8"/>
                </a:solidFill>
                <a:latin typeface="Futura"/>
                <a:ea typeface="Futura"/>
                <a:cs typeface="Futura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g_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008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 spc="320">
                <a:solidFill>
                  <a:srgbClr val="7FDFFF"/>
                </a:solidFill>
                <a:latin typeface="Futura"/>
                <a:ea typeface="Futura"/>
                <a:cs typeface="Futura"/>
              </a:rPr>
              <a:t>12 ·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F4F8FF"/>
                </a:solidFill>
                <a:latin typeface="Futura"/>
                <a:ea typeface="Futura"/>
                <a:cs typeface="Futura"/>
              </a:rPr>
              <a:t>Dal concept al 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7D93A8"/>
                </a:solidFill>
                <a:latin typeface="Futura"/>
                <a:ea typeface="Futura"/>
                <a:cs typeface="Futura"/>
              </a:rPr>
              <a:t>Quattro fasi: dalla ricerca all'esperienza reale, validata in negozio.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926080"/>
            <a:ext cx="10332720" cy="22860"/>
          </a:xfrm>
          <a:prstGeom prst="rect">
            <a:avLst/>
          </a:prstGeom>
          <a:solidFill>
            <a:srgbClr val="2536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792224" y="2820924"/>
            <a:ext cx="237744" cy="237744"/>
          </a:xfrm>
          <a:prstGeom prst="ellipse">
            <a:avLst/>
          </a:prstGeom>
          <a:solidFill>
            <a:srgbClr val="7FD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3337560"/>
            <a:ext cx="2542032" cy="2468880"/>
          </a:xfrm>
          <a:prstGeom prst="roundRect">
            <a:avLst>
              <a:gd name="adj" fmla="val 6000"/>
            </a:avLst>
          </a:prstGeom>
          <a:solidFill>
            <a:srgbClr val="0E1620"/>
          </a:solidFill>
          <a:ln w="12700">
            <a:solidFill>
              <a:srgbClr val="253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93591"/>
            <a:ext cx="20848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 spc="200">
                <a:solidFill>
                  <a:srgbClr val="7FDFFF"/>
                </a:solidFill>
                <a:latin typeface="Futura"/>
                <a:ea typeface="Futura"/>
                <a:cs typeface="Futura"/>
              </a:rPr>
              <a:t>FASE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04487"/>
            <a:ext cx="2039111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4F8FF"/>
                </a:solidFill>
                <a:latin typeface="Futura"/>
                <a:ea typeface="Futura"/>
                <a:cs typeface="Futura"/>
              </a:rPr>
              <a:t>Research &amp; Concept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434840"/>
            <a:ext cx="2011679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7D93A8"/>
                </a:solidFill>
                <a:latin typeface="Futura"/>
                <a:ea typeface="Futura"/>
                <a:cs typeface="Futura"/>
              </a:rPr>
              <a:t>Target analysis, concept board, moodboard, definizione palette e tono.</a:t>
            </a:r>
          </a:p>
        </p:txBody>
      </p:sp>
      <p:sp>
        <p:nvSpPr>
          <p:cNvPr id="13" name="Oval 12"/>
          <p:cNvSpPr/>
          <p:nvPr/>
        </p:nvSpPr>
        <p:spPr>
          <a:xfrm>
            <a:off x="4581144" y="2820924"/>
            <a:ext cx="237744" cy="237744"/>
          </a:xfrm>
          <a:prstGeom prst="ellipse">
            <a:avLst/>
          </a:prstGeom>
          <a:solidFill>
            <a:srgbClr val="D4FF37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29000" y="3337560"/>
            <a:ext cx="2542032" cy="2468880"/>
          </a:xfrm>
          <a:prstGeom prst="roundRect">
            <a:avLst>
              <a:gd name="adj" fmla="val 6000"/>
            </a:avLst>
          </a:prstGeom>
          <a:solidFill>
            <a:srgbClr val="0E1620"/>
          </a:solidFill>
          <a:ln w="12700">
            <a:solidFill>
              <a:srgbClr val="253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03320" y="3593591"/>
            <a:ext cx="20848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 spc="200">
                <a:solidFill>
                  <a:srgbClr val="D4FF37"/>
                </a:solidFill>
                <a:latin typeface="Futura"/>
                <a:ea typeface="Futura"/>
                <a:cs typeface="Futura"/>
              </a:rPr>
              <a:t>FASE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3904487"/>
            <a:ext cx="2039111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4F8FF"/>
                </a:solidFill>
                <a:latin typeface="Futura"/>
                <a:ea typeface="Futura"/>
                <a:cs typeface="Futura"/>
              </a:rPr>
              <a:t>Wireframe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4434840"/>
            <a:ext cx="2011679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7D93A8"/>
                </a:solidFill>
                <a:latin typeface="Futura"/>
                <a:ea typeface="Futura"/>
                <a:cs typeface="Futura"/>
              </a:rPr>
              <a:t>Architettura dell'informazione e flussi low-fidelity delle 5 schermate.</a:t>
            </a:r>
          </a:p>
        </p:txBody>
      </p:sp>
      <p:sp>
        <p:nvSpPr>
          <p:cNvPr id="18" name="Oval 17"/>
          <p:cNvSpPr/>
          <p:nvPr/>
        </p:nvSpPr>
        <p:spPr>
          <a:xfrm>
            <a:off x="7370063" y="2820924"/>
            <a:ext cx="237744" cy="237744"/>
          </a:xfrm>
          <a:prstGeom prst="ellipse">
            <a:avLst/>
          </a:prstGeom>
          <a:solidFill>
            <a:srgbClr val="0085C7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17920" y="3337560"/>
            <a:ext cx="2542032" cy="2468880"/>
          </a:xfrm>
          <a:prstGeom prst="roundRect">
            <a:avLst>
              <a:gd name="adj" fmla="val 6000"/>
            </a:avLst>
          </a:prstGeom>
          <a:solidFill>
            <a:srgbClr val="0E1620"/>
          </a:solidFill>
          <a:ln w="12700">
            <a:solidFill>
              <a:srgbClr val="253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593591"/>
            <a:ext cx="20848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 spc="200">
                <a:solidFill>
                  <a:srgbClr val="0085C7"/>
                </a:solidFill>
                <a:latin typeface="Futura"/>
                <a:ea typeface="Futura"/>
                <a:cs typeface="Futura"/>
              </a:rPr>
              <a:t>FASE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904487"/>
            <a:ext cx="2039111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4F8FF"/>
                </a:solidFill>
                <a:latin typeface="Futura"/>
                <a:ea typeface="Futura"/>
                <a:cs typeface="Futura"/>
              </a:rPr>
              <a:t>UI &amp; Prototipo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434840"/>
            <a:ext cx="2011679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7D93A8"/>
                </a:solidFill>
                <a:latin typeface="Futura"/>
                <a:ea typeface="Futura"/>
                <a:cs typeface="Futura"/>
              </a:rPr>
              <a:t>Design system completo in Figma e prototipo interattivo navigabile.</a:t>
            </a:r>
          </a:p>
        </p:txBody>
      </p:sp>
      <p:sp>
        <p:nvSpPr>
          <p:cNvPr id="23" name="Oval 22"/>
          <p:cNvSpPr/>
          <p:nvPr/>
        </p:nvSpPr>
        <p:spPr>
          <a:xfrm>
            <a:off x="10158983" y="2820924"/>
            <a:ext cx="237744" cy="237744"/>
          </a:xfrm>
          <a:prstGeom prst="ellipse">
            <a:avLst/>
          </a:prstGeom>
          <a:solidFill>
            <a:srgbClr val="009F3D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006839" y="3337560"/>
            <a:ext cx="2542032" cy="2468880"/>
          </a:xfrm>
          <a:prstGeom prst="roundRect">
            <a:avLst>
              <a:gd name="adj" fmla="val 6000"/>
            </a:avLst>
          </a:prstGeom>
          <a:solidFill>
            <a:srgbClr val="0E1620"/>
          </a:solidFill>
          <a:ln w="12700">
            <a:solidFill>
              <a:srgbClr val="253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81159" y="3593591"/>
            <a:ext cx="20848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 spc="200">
                <a:solidFill>
                  <a:srgbClr val="009F3D"/>
                </a:solidFill>
                <a:latin typeface="Futura"/>
                <a:ea typeface="Futura"/>
                <a:cs typeface="Futura"/>
              </a:rPr>
              <a:t>FASE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59" y="3904487"/>
            <a:ext cx="2039111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4F8FF"/>
                </a:solidFill>
                <a:latin typeface="Futura"/>
                <a:ea typeface="Futura"/>
                <a:cs typeface="Futura"/>
              </a:rPr>
              <a:t>Pilot in store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81159" y="4434840"/>
            <a:ext cx="2011679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7D93A8"/>
                </a:solidFill>
                <a:latin typeface="Futura"/>
                <a:ea typeface="Futura"/>
                <a:cs typeface="Futura"/>
              </a:rPr>
              <a:t>Test in un flagship: misurazione KPI e iterazione sull'esperienza reale.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 spc="200">
                <a:solidFill>
                  <a:srgbClr val="7FDFFF"/>
                </a:solidFill>
                <a:latin typeface="Futura"/>
                <a:ea typeface="Futura"/>
                <a:cs typeface="Futura"/>
              </a:rPr>
              <a:t>ATLAS</a:t>
            </a:r>
            <a:r>
              <a:rPr sz="1000" b="0" i="0" spc="100">
                <a:solidFill>
                  <a:srgbClr val="7D93A8"/>
                </a:solidFill>
                <a:latin typeface="Futura"/>
                <a:ea typeface="Futura"/>
                <a:cs typeface="Futura"/>
              </a:rPr>
              <a:t>  ·  Roadmap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7D93A8"/>
                </a:solidFill>
                <a:latin typeface="Futura"/>
                <a:ea typeface="Futura"/>
                <a:cs typeface="Futura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g_sto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swoosh_vo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297680"/>
            <a:ext cx="4572000" cy="173909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9144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 spc="300">
                <a:solidFill>
                  <a:srgbClr val="7FDFFF"/>
                </a:solidFill>
                <a:latin typeface="Futura"/>
                <a:ea typeface="Futura"/>
                <a:cs typeface="Futura"/>
              </a:rPr>
              <a:t>ATLAS · NIKE × KIOSK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194560"/>
            <a:ext cx="10972800" cy="2011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600" b="1" i="0">
                <a:solidFill>
                  <a:srgbClr val="F4F8FF"/>
                </a:solidFill>
                <a:latin typeface="Futura"/>
                <a:ea typeface="Futura"/>
                <a:cs typeface="Futura"/>
              </a:rPr>
              <a:t>Trova il tuo </a:t>
            </a:r>
            <a:r>
              <a:rPr sz="7600" b="1" i="0">
                <a:solidFill>
                  <a:srgbClr val="D4FF37"/>
                </a:solidFill>
                <a:latin typeface="Futura"/>
                <a:ea typeface="Futura"/>
                <a:cs typeface="Futura"/>
              </a:rPr>
              <a:t>fit.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7033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0" i="1">
                <a:solidFill>
                  <a:srgbClr val="7FDFFF"/>
                </a:solidFill>
                <a:latin typeface="Futura"/>
                <a:ea typeface="Futura"/>
                <a:cs typeface="Futura"/>
              </a:rPr>
              <a:t>Un negozio che ascolta, misura e gioca con 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52120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4F8FF"/>
                </a:solidFill>
                <a:latin typeface="Futura"/>
                <a:ea typeface="Futura"/>
                <a:cs typeface="Futura"/>
              </a:rPr>
              <a:t>Grazie.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8978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7D93A8"/>
                </a:solidFill>
                <a:latin typeface="Futura"/>
                <a:ea typeface="Futura"/>
                <a:cs typeface="Futura"/>
              </a:rPr>
              <a:t>Domande &amp; demo dal vivo del prototipo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